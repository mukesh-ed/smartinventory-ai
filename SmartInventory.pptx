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Arimo" charset="1" panose="020B0604020202020204"/>
      <p:regular r:id="rId19"/>
    </p:embeddedFont>
    <p:embeddedFont>
      <p:font typeface="Arimo Bold" charset="1" panose="020B07040202020202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notesSlides/notesSlide2.xml" Type="http://schemas.openxmlformats.org/officeDocument/2006/relationships/notesSlide"/><Relationship Id="rId21" Target="fonts/font21.fntdata" Type="http://schemas.openxmlformats.org/officeDocument/2006/relationships/font"/><Relationship Id="rId22" Target="notesSlides/notesSlide3.xml" Type="http://schemas.openxmlformats.org/officeDocument/2006/relationships/notesSlide"/><Relationship Id="rId23" Target="notesSlides/notesSlide4.xml" Type="http://schemas.openxmlformats.org/officeDocument/2006/relationships/notesSlide"/><Relationship Id="rId24" Target="notesSlides/notesSlide5.xml" Type="http://schemas.openxmlformats.org/officeDocument/2006/relationships/notesSlide"/><Relationship Id="rId25" Target="notesSlides/notesSlide6.xml" Type="http://schemas.openxmlformats.org/officeDocument/2006/relationships/notesSlide"/><Relationship Id="rId26" Target="notesSlides/notesSlide7.xml" Type="http://schemas.openxmlformats.org/officeDocument/2006/relationships/notesSlide"/><Relationship Id="rId27" Target="notesSlides/notesSlide8.xml" Type="http://schemas.openxmlformats.org/officeDocument/2006/relationships/notesSlide"/><Relationship Id="rId28" Target="notesSlides/notesSlide9.xml" Type="http://schemas.openxmlformats.org/officeDocument/2006/relationships/notesSlide"/><Relationship Id="rId29" Target="notesSlides/notesSlide10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svg" Type="http://schemas.openxmlformats.org/officeDocument/2006/relationships/image"/><Relationship Id="rId2" Target="../notesSlides/notesSlide3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Relationship Id="rId9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2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svg" Type="http://schemas.openxmlformats.org/officeDocument/2006/relationships/image"/><Relationship Id="rId11" Target="../media/image23.png" Type="http://schemas.openxmlformats.org/officeDocument/2006/relationships/image"/><Relationship Id="rId12" Target="../media/image24.svg" Type="http://schemas.openxmlformats.org/officeDocument/2006/relationships/image"/><Relationship Id="rId13" Target="../media/image25.png" Type="http://schemas.openxmlformats.org/officeDocument/2006/relationships/image"/><Relationship Id="rId14" Target="../media/image26.svg" Type="http://schemas.openxmlformats.org/officeDocument/2006/relationships/image"/><Relationship Id="rId2" Target="../notesSlides/notesSlide8.xml" Type="http://schemas.openxmlformats.org/officeDocument/2006/relationships/notesSlid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17.png" Type="http://schemas.openxmlformats.org/officeDocument/2006/relationships/image"/><Relationship Id="rId6" Target="../media/image18.svg" Type="http://schemas.openxmlformats.org/officeDocument/2006/relationships/image"/><Relationship Id="rId7" Target="../media/image19.png" Type="http://schemas.openxmlformats.org/officeDocument/2006/relationships/image"/><Relationship Id="rId8" Target="../media/image20.svg" Type="http://schemas.openxmlformats.org/officeDocument/2006/relationships/image"/><Relationship Id="rId9" Target="../media/image2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DCFB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9F6F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92238" y="1849936"/>
            <a:ext cx="1203722" cy="532800"/>
            <a:chOff x="0" y="0"/>
            <a:chExt cx="1604962" cy="710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04899" cy="710438"/>
            </a:xfrm>
            <a:custGeom>
              <a:avLst/>
              <a:gdLst/>
              <a:ahLst/>
              <a:cxnLst/>
              <a:rect r="r" b="b" t="t" l="l"/>
              <a:pathLst>
                <a:path h="710438" w="1604899">
                  <a:moveTo>
                    <a:pt x="0" y="45339"/>
                  </a:moveTo>
                  <a:cubicBezTo>
                    <a:pt x="0" y="20320"/>
                    <a:pt x="20320" y="0"/>
                    <a:pt x="45339" y="0"/>
                  </a:cubicBezTo>
                  <a:lnTo>
                    <a:pt x="1559560" y="0"/>
                  </a:lnTo>
                  <a:cubicBezTo>
                    <a:pt x="1584579" y="0"/>
                    <a:pt x="1604899" y="20320"/>
                    <a:pt x="1604899" y="45339"/>
                  </a:cubicBezTo>
                  <a:lnTo>
                    <a:pt x="1604899" y="665099"/>
                  </a:lnTo>
                  <a:cubicBezTo>
                    <a:pt x="1604899" y="690118"/>
                    <a:pt x="1584579" y="710438"/>
                    <a:pt x="1559560" y="710438"/>
                  </a:cubicBezTo>
                  <a:lnTo>
                    <a:pt x="45339" y="710438"/>
                  </a:lnTo>
                  <a:cubicBezTo>
                    <a:pt x="20320" y="710438"/>
                    <a:pt x="0" y="690118"/>
                    <a:pt x="0" y="665099"/>
                  </a:cubicBezTo>
                  <a:close/>
                </a:path>
              </a:pathLst>
            </a:custGeom>
            <a:solidFill>
              <a:srgbClr val="ECE6DF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162345" y="1849193"/>
            <a:ext cx="1777898" cy="448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3"/>
              </a:lnSpc>
            </a:pPr>
            <a:r>
              <a:rPr lang="en-US" sz="17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TEAM-4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2439000"/>
            <a:ext cx="8002638" cy="943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>
                <a:solidFill>
                  <a:srgbClr val="484237"/>
                </a:solidFill>
                <a:latin typeface="Arimo"/>
                <a:ea typeface="Arimo"/>
                <a:cs typeface="Arimo"/>
                <a:sym typeface="Arimo"/>
              </a:rPr>
              <a:t>Smart Inventory AI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238" y="3731123"/>
            <a:ext cx="16303523" cy="2521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09"/>
              </a:lnSpc>
            </a:pPr>
            <a:r>
              <a:rPr lang="en-US" sz="7700">
                <a:solidFill>
                  <a:srgbClr val="484237"/>
                </a:solidFill>
                <a:latin typeface="Arimo"/>
                <a:ea typeface="Arimo"/>
                <a:cs typeface="Arimo"/>
                <a:sym typeface="Arimo"/>
              </a:rPr>
              <a:t>Revenue Recovery &amp; Inventory Intelligence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6573288"/>
            <a:ext cx="16303523" cy="101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An AI-powered decision support platform that predicts expiry risks, optimizes inventory, and maximizes revenue recovery — transforming reactive inventory management into proactive intelligence.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62345" y="7903521"/>
            <a:ext cx="1154906" cy="448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3"/>
              </a:lnSpc>
            </a:pPr>
            <a:r>
              <a:rPr lang="en-US" sz="17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AI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884759" y="7903521"/>
            <a:ext cx="2838745" cy="448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3"/>
              </a:lnSpc>
            </a:pPr>
            <a:r>
              <a:rPr lang="en-US" sz="17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DATA ANALYTICS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291012" y="7903521"/>
            <a:ext cx="3772938" cy="448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3"/>
              </a:lnSpc>
            </a:pPr>
            <a:r>
              <a:rPr lang="en-US" sz="17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BUSINESS INTELLIGENCE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631459" y="7903521"/>
            <a:ext cx="5758310" cy="448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3"/>
              </a:lnSpc>
            </a:pPr>
            <a:r>
              <a:rPr lang="en-US" sz="17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PYTHON · SQL · POWER BI · ML · STREAMLIT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DCFB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9F6F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92238" y="1549451"/>
            <a:ext cx="1977180" cy="532800"/>
            <a:chOff x="0" y="0"/>
            <a:chExt cx="2636241" cy="710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636266" cy="710438"/>
            </a:xfrm>
            <a:custGeom>
              <a:avLst/>
              <a:gdLst/>
              <a:ahLst/>
              <a:cxnLst/>
              <a:rect r="r" b="b" t="t" l="l"/>
              <a:pathLst>
                <a:path h="710438" w="2636266">
                  <a:moveTo>
                    <a:pt x="0" y="45339"/>
                  </a:moveTo>
                  <a:cubicBezTo>
                    <a:pt x="0" y="20320"/>
                    <a:pt x="20320" y="0"/>
                    <a:pt x="45339" y="0"/>
                  </a:cubicBezTo>
                  <a:lnTo>
                    <a:pt x="2590927" y="0"/>
                  </a:lnTo>
                  <a:cubicBezTo>
                    <a:pt x="2615946" y="0"/>
                    <a:pt x="2636266" y="20320"/>
                    <a:pt x="2636266" y="45339"/>
                  </a:cubicBezTo>
                  <a:lnTo>
                    <a:pt x="2636266" y="665099"/>
                  </a:lnTo>
                  <a:cubicBezTo>
                    <a:pt x="2636266" y="690118"/>
                    <a:pt x="2615946" y="710438"/>
                    <a:pt x="2590927" y="710438"/>
                  </a:cubicBezTo>
                  <a:lnTo>
                    <a:pt x="45339" y="710438"/>
                  </a:lnTo>
                  <a:cubicBezTo>
                    <a:pt x="20320" y="710438"/>
                    <a:pt x="0" y="690118"/>
                    <a:pt x="0" y="665099"/>
                  </a:cubicBezTo>
                  <a:close/>
                </a:path>
              </a:pathLst>
            </a:custGeom>
            <a:solidFill>
              <a:srgbClr val="ECE6DF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162345" y="1548708"/>
            <a:ext cx="2551357" cy="448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3"/>
              </a:lnSpc>
            </a:pPr>
            <a:r>
              <a:rPr lang="en-US" sz="17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THE PROBLEM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2138515"/>
            <a:ext cx="11534184" cy="943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>
                <a:solidFill>
                  <a:srgbClr val="484237"/>
                </a:solidFill>
                <a:latin typeface="Arimo"/>
                <a:ea typeface="Arimo"/>
                <a:cs typeface="Arimo"/>
                <a:sym typeface="Arimo"/>
              </a:rPr>
              <a:t>Why Businesses Lose Revenue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238" y="3402063"/>
            <a:ext cx="17217923" cy="5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Most inventory systems track stock and expiry dates but </a:t>
            </a:r>
            <a:r>
              <a:rPr lang="en-US" sz="2200" b="true">
                <a:solidFill>
                  <a:srgbClr val="746558"/>
                </a:solidFill>
                <a:latin typeface="Arimo Bold"/>
                <a:ea typeface="Arimo Bold"/>
                <a:cs typeface="Arimo Bold"/>
                <a:sym typeface="Arimo Bold"/>
              </a:rPr>
              <a:t>lack predictive intelligence</a:t>
            </a:r>
            <a:r>
              <a:rPr lang="en-US" sz="22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 to prevent losses before they occur.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92238" y="4279402"/>
            <a:ext cx="8009934" cy="2087318"/>
            <a:chOff x="0" y="0"/>
            <a:chExt cx="10679913" cy="278309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679937" cy="2783078"/>
            </a:xfrm>
            <a:custGeom>
              <a:avLst/>
              <a:gdLst/>
              <a:ahLst/>
              <a:cxnLst/>
              <a:rect r="r" b="b" t="t" l="l"/>
              <a:pathLst>
                <a:path h="2783078" w="10679937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10623169" y="0"/>
                  </a:lnTo>
                  <a:cubicBezTo>
                    <a:pt x="10654537" y="0"/>
                    <a:pt x="10679937" y="25400"/>
                    <a:pt x="10679937" y="56769"/>
                  </a:cubicBezTo>
                  <a:lnTo>
                    <a:pt x="10679937" y="2726309"/>
                  </a:lnTo>
                  <a:cubicBezTo>
                    <a:pt x="10679937" y="2757678"/>
                    <a:pt x="10654537" y="2783078"/>
                    <a:pt x="10623169" y="2783078"/>
                  </a:cubicBezTo>
                  <a:lnTo>
                    <a:pt x="56769" y="2783078"/>
                  </a:lnTo>
                  <a:cubicBezTo>
                    <a:pt x="25400" y="2783078"/>
                    <a:pt x="0" y="2757678"/>
                    <a:pt x="0" y="2726309"/>
                  </a:cubicBezTo>
                  <a:close/>
                </a:path>
              </a:pathLst>
            </a:custGeom>
            <a:solidFill>
              <a:srgbClr val="EEE8DD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275750" y="4534348"/>
            <a:ext cx="3544043" cy="4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Product Expiry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75750" y="5071167"/>
            <a:ext cx="7442892" cy="5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Goods expire before they can be sold or discounted.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285684" y="4279402"/>
            <a:ext cx="8010077" cy="2087318"/>
            <a:chOff x="0" y="0"/>
            <a:chExt cx="10680103" cy="278309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680192" cy="2783078"/>
            </a:xfrm>
            <a:custGeom>
              <a:avLst/>
              <a:gdLst/>
              <a:ahLst/>
              <a:cxnLst/>
              <a:rect r="r" b="b" t="t" l="l"/>
              <a:pathLst>
                <a:path h="2783078" w="10680192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10623423" y="0"/>
                  </a:lnTo>
                  <a:cubicBezTo>
                    <a:pt x="10654792" y="0"/>
                    <a:pt x="10680192" y="25400"/>
                    <a:pt x="10680192" y="56769"/>
                  </a:cubicBezTo>
                  <a:lnTo>
                    <a:pt x="10680192" y="2726309"/>
                  </a:lnTo>
                  <a:cubicBezTo>
                    <a:pt x="10680192" y="2757678"/>
                    <a:pt x="10654792" y="2783078"/>
                    <a:pt x="10623423" y="2783078"/>
                  </a:cubicBezTo>
                  <a:lnTo>
                    <a:pt x="56769" y="2783078"/>
                  </a:lnTo>
                  <a:cubicBezTo>
                    <a:pt x="25400" y="2783078"/>
                    <a:pt x="0" y="2757678"/>
                    <a:pt x="0" y="2726309"/>
                  </a:cubicBezTo>
                  <a:close/>
                </a:path>
              </a:pathLst>
            </a:custGeom>
            <a:solidFill>
              <a:srgbClr val="EEE8DD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9569206" y="4534348"/>
            <a:ext cx="5333705" cy="4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Overstocking &amp; Understocking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569206" y="5071167"/>
            <a:ext cx="7443045" cy="101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Poor demand forecasting leads to imbalanced inventory levels.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92238" y="6650241"/>
            <a:ext cx="8009934" cy="2087318"/>
            <a:chOff x="0" y="0"/>
            <a:chExt cx="10679913" cy="278309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679937" cy="2783078"/>
            </a:xfrm>
            <a:custGeom>
              <a:avLst/>
              <a:gdLst/>
              <a:ahLst/>
              <a:cxnLst/>
              <a:rect r="r" b="b" t="t" l="l"/>
              <a:pathLst>
                <a:path h="2783078" w="10679937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10623169" y="0"/>
                  </a:lnTo>
                  <a:cubicBezTo>
                    <a:pt x="10654537" y="0"/>
                    <a:pt x="10679937" y="25400"/>
                    <a:pt x="10679937" y="56769"/>
                  </a:cubicBezTo>
                  <a:lnTo>
                    <a:pt x="10679937" y="2726309"/>
                  </a:lnTo>
                  <a:cubicBezTo>
                    <a:pt x="10679937" y="2757678"/>
                    <a:pt x="10654537" y="2783078"/>
                    <a:pt x="10623169" y="2783078"/>
                  </a:cubicBezTo>
                  <a:lnTo>
                    <a:pt x="56769" y="2783078"/>
                  </a:lnTo>
                  <a:cubicBezTo>
                    <a:pt x="25400" y="2783078"/>
                    <a:pt x="0" y="2757678"/>
                    <a:pt x="0" y="2726309"/>
                  </a:cubicBezTo>
                  <a:close/>
                </a:path>
              </a:pathLst>
            </a:custGeom>
            <a:solidFill>
              <a:srgbClr val="EEE8DD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275750" y="6905177"/>
            <a:ext cx="3544043" cy="4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Delayed Discounts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75750" y="7441997"/>
            <a:ext cx="7442892" cy="101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Manual decisions miss the optimal window for revenue recovery.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285684" y="6650241"/>
            <a:ext cx="8010077" cy="2087318"/>
            <a:chOff x="0" y="0"/>
            <a:chExt cx="10680103" cy="278309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680192" cy="2783078"/>
            </a:xfrm>
            <a:custGeom>
              <a:avLst/>
              <a:gdLst/>
              <a:ahLst/>
              <a:cxnLst/>
              <a:rect r="r" b="b" t="t" l="l"/>
              <a:pathLst>
                <a:path h="2783078" w="10680192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10623423" y="0"/>
                  </a:lnTo>
                  <a:cubicBezTo>
                    <a:pt x="10654792" y="0"/>
                    <a:pt x="10680192" y="25400"/>
                    <a:pt x="10680192" y="56769"/>
                  </a:cubicBezTo>
                  <a:lnTo>
                    <a:pt x="10680192" y="2726309"/>
                  </a:lnTo>
                  <a:cubicBezTo>
                    <a:pt x="10680192" y="2757678"/>
                    <a:pt x="10654792" y="2783078"/>
                    <a:pt x="10623423" y="2783078"/>
                  </a:cubicBezTo>
                  <a:lnTo>
                    <a:pt x="56769" y="2783078"/>
                  </a:lnTo>
                  <a:cubicBezTo>
                    <a:pt x="25400" y="2783078"/>
                    <a:pt x="0" y="2757678"/>
                    <a:pt x="0" y="2726309"/>
                  </a:cubicBezTo>
                  <a:close/>
                </a:path>
              </a:pathLst>
            </a:custGeom>
            <a:solidFill>
              <a:srgbClr val="EEE8DD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9569206" y="6905177"/>
            <a:ext cx="5782418" cy="4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No Intelligent Recommendations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569206" y="7441997"/>
            <a:ext cx="7443045" cy="101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Existing systems report problems but never prescribe solutions.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DCFB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9F6F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92238" y="792661"/>
            <a:ext cx="2037750" cy="521646"/>
            <a:chOff x="0" y="0"/>
            <a:chExt cx="2717000" cy="69552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17038" cy="695579"/>
            </a:xfrm>
            <a:custGeom>
              <a:avLst/>
              <a:gdLst/>
              <a:ahLst/>
              <a:cxnLst/>
              <a:rect r="r" b="b" t="t" l="l"/>
              <a:pathLst>
                <a:path h="695579" w="2717038">
                  <a:moveTo>
                    <a:pt x="0" y="44704"/>
                  </a:moveTo>
                  <a:cubicBezTo>
                    <a:pt x="0" y="19939"/>
                    <a:pt x="19939" y="0"/>
                    <a:pt x="44704" y="0"/>
                  </a:cubicBezTo>
                  <a:lnTo>
                    <a:pt x="2672334" y="0"/>
                  </a:lnTo>
                  <a:cubicBezTo>
                    <a:pt x="2696972" y="0"/>
                    <a:pt x="2717038" y="19939"/>
                    <a:pt x="2717038" y="44704"/>
                  </a:cubicBezTo>
                  <a:lnTo>
                    <a:pt x="2717038" y="650875"/>
                  </a:lnTo>
                  <a:cubicBezTo>
                    <a:pt x="2717038" y="675513"/>
                    <a:pt x="2697099" y="695579"/>
                    <a:pt x="2672334" y="695579"/>
                  </a:cubicBezTo>
                  <a:lnTo>
                    <a:pt x="44704" y="695579"/>
                  </a:lnTo>
                  <a:cubicBezTo>
                    <a:pt x="19939" y="695579"/>
                    <a:pt x="0" y="675513"/>
                    <a:pt x="0" y="650875"/>
                  </a:cubicBezTo>
                  <a:close/>
                </a:path>
              </a:pathLst>
            </a:custGeom>
            <a:solidFill>
              <a:srgbClr val="ECE6DF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159669" y="800100"/>
            <a:ext cx="2617289" cy="430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2"/>
              </a:lnSpc>
            </a:pPr>
            <a:r>
              <a:rPr lang="en-US" sz="17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OUR SOLUTION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1366990"/>
            <a:ext cx="16303523" cy="1801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9"/>
              </a:lnSpc>
            </a:pPr>
            <a:r>
              <a:rPr lang="en-US" sz="5400">
                <a:solidFill>
                  <a:srgbClr val="484237"/>
                </a:solidFill>
                <a:latin typeface="Arimo"/>
                <a:ea typeface="Arimo"/>
                <a:cs typeface="Arimo"/>
                <a:sym typeface="Arimo"/>
              </a:rPr>
              <a:t>Smart Inventory AI — Predict, Recover, Optimize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238" y="3494780"/>
            <a:ext cx="16303523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6"/>
              </a:lnSpc>
            </a:pPr>
            <a:r>
              <a:rPr lang="en-US" sz="21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Instead of </a:t>
            </a:r>
            <a:r>
              <a:rPr lang="en-US" sz="2100" b="true">
                <a:solidFill>
                  <a:srgbClr val="746558"/>
                </a:solidFill>
                <a:latin typeface="Arimo Bold"/>
                <a:ea typeface="Arimo Bold"/>
                <a:cs typeface="Arimo Bold"/>
                <a:sym typeface="Arimo Bold"/>
              </a:rPr>
              <a:t>reacting</a:t>
            </a:r>
            <a:r>
              <a:rPr lang="en-US" sz="21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 to losses, businesses can </a:t>
            </a:r>
            <a:r>
              <a:rPr lang="en-US" sz="2100" b="true">
                <a:solidFill>
                  <a:srgbClr val="746558"/>
                </a:solidFill>
                <a:latin typeface="Arimo Bold"/>
                <a:ea typeface="Arimo Bold"/>
                <a:cs typeface="Arimo Bold"/>
                <a:sym typeface="Arimo Bold"/>
              </a:rPr>
              <a:t>prevent</a:t>
            </a:r>
            <a:r>
              <a:rPr lang="en-US" sz="21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 them. Smart Inventory AI is an AI-powered platform that predicts expiry risks, forecasts demand, recovers revenue, and recommends proactive actions.</a:t>
            </a:r>
          </a:p>
        </p:txBody>
      </p:sp>
      <p:sp>
        <p:nvSpPr>
          <p:cNvPr name="Freeform 11" id="11" descr="preencoded.png"/>
          <p:cNvSpPr/>
          <p:nvPr/>
        </p:nvSpPr>
        <p:spPr>
          <a:xfrm flipH="false" flipV="false" rot="0">
            <a:off x="992238" y="4775302"/>
            <a:ext cx="697706" cy="697706"/>
          </a:xfrm>
          <a:custGeom>
            <a:avLst/>
            <a:gdLst/>
            <a:ahLst/>
            <a:cxnLst/>
            <a:rect r="r" b="b" t="t" l="l"/>
            <a:pathLst>
              <a:path h="697706" w="697706">
                <a:moveTo>
                  <a:pt x="0" y="0"/>
                </a:moveTo>
                <a:lnTo>
                  <a:pt x="697707" y="0"/>
                </a:lnTo>
                <a:lnTo>
                  <a:pt x="697707" y="697706"/>
                </a:lnTo>
                <a:lnTo>
                  <a:pt x="0" y="6977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992238" y="5787781"/>
            <a:ext cx="3488684" cy="464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Expiry Prediction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92238" y="6331448"/>
            <a:ext cx="7980016" cy="528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6"/>
              </a:lnSpc>
            </a:pPr>
            <a:r>
              <a:rPr lang="en-US" sz="21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Identifies products likely to expire before they can be sold.</a:t>
            </a:r>
          </a:p>
        </p:txBody>
      </p:sp>
      <p:sp>
        <p:nvSpPr>
          <p:cNvPr name="Freeform 14" id="14" descr="preencoded.png"/>
          <p:cNvSpPr/>
          <p:nvPr/>
        </p:nvSpPr>
        <p:spPr>
          <a:xfrm flipH="false" flipV="false" rot="0">
            <a:off x="9315602" y="4775302"/>
            <a:ext cx="697706" cy="697706"/>
          </a:xfrm>
          <a:custGeom>
            <a:avLst/>
            <a:gdLst/>
            <a:ahLst/>
            <a:cxnLst/>
            <a:rect r="r" b="b" t="t" l="l"/>
            <a:pathLst>
              <a:path h="697706" w="697706">
                <a:moveTo>
                  <a:pt x="0" y="0"/>
                </a:moveTo>
                <a:lnTo>
                  <a:pt x="697707" y="0"/>
                </a:lnTo>
                <a:lnTo>
                  <a:pt x="697707" y="697706"/>
                </a:lnTo>
                <a:lnTo>
                  <a:pt x="0" y="69770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0135" t="0" r="-10135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9315602" y="5787781"/>
            <a:ext cx="3565474" cy="464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Demand Forecasting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315602" y="6331448"/>
            <a:ext cx="7980159" cy="528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6"/>
              </a:lnSpc>
            </a:pPr>
            <a:r>
              <a:rPr lang="en-US" sz="21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AI-driven forecasts to optimize purchasing and production.</a:t>
            </a:r>
          </a:p>
        </p:txBody>
      </p:sp>
      <p:sp>
        <p:nvSpPr>
          <p:cNvPr name="Freeform 17" id="17" descr="preencoded.png"/>
          <p:cNvSpPr/>
          <p:nvPr/>
        </p:nvSpPr>
        <p:spPr>
          <a:xfrm flipH="false" flipV="false" rot="0">
            <a:off x="992238" y="7409555"/>
            <a:ext cx="697706" cy="697706"/>
          </a:xfrm>
          <a:custGeom>
            <a:avLst/>
            <a:gdLst/>
            <a:ahLst/>
            <a:cxnLst/>
            <a:rect r="r" b="b" t="t" l="l"/>
            <a:pathLst>
              <a:path h="697706" w="697706">
                <a:moveTo>
                  <a:pt x="0" y="0"/>
                </a:moveTo>
                <a:lnTo>
                  <a:pt x="697707" y="0"/>
                </a:lnTo>
                <a:lnTo>
                  <a:pt x="697707" y="697706"/>
                </a:lnTo>
                <a:lnTo>
                  <a:pt x="0" y="69770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50675" r="0" b="-50675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992238" y="8422034"/>
            <a:ext cx="3488684" cy="464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Revenue Recovery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92238" y="8965702"/>
            <a:ext cx="7980016" cy="528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6"/>
              </a:lnSpc>
            </a:pPr>
            <a:r>
              <a:rPr lang="en-US" sz="21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Estimates revenue at risk and suggests smart dynamic discounts.</a:t>
            </a:r>
          </a:p>
        </p:txBody>
      </p:sp>
      <p:sp>
        <p:nvSpPr>
          <p:cNvPr name="Freeform 20" id="20" descr="preencoded.png"/>
          <p:cNvSpPr/>
          <p:nvPr/>
        </p:nvSpPr>
        <p:spPr>
          <a:xfrm flipH="false" flipV="false" rot="0">
            <a:off x="9315602" y="7409555"/>
            <a:ext cx="697706" cy="697706"/>
          </a:xfrm>
          <a:custGeom>
            <a:avLst/>
            <a:gdLst/>
            <a:ahLst/>
            <a:cxnLst/>
            <a:rect r="r" b="b" t="t" l="l"/>
            <a:pathLst>
              <a:path h="697706" w="697706">
                <a:moveTo>
                  <a:pt x="0" y="0"/>
                </a:moveTo>
                <a:lnTo>
                  <a:pt x="697707" y="0"/>
                </a:lnTo>
                <a:lnTo>
                  <a:pt x="697707" y="697706"/>
                </a:lnTo>
                <a:lnTo>
                  <a:pt x="0" y="69770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9315602" y="8422034"/>
            <a:ext cx="3930844" cy="464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Real-Time Dashboards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315602" y="8965702"/>
            <a:ext cx="7980159" cy="528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6"/>
              </a:lnSpc>
            </a:pPr>
            <a:r>
              <a:rPr lang="en-US" sz="21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Live business intelligence for data-driven decisions.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DCFB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9F6F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92238" y="779707"/>
            <a:ext cx="1132284" cy="220856"/>
            <a:chOff x="0" y="0"/>
            <a:chExt cx="1509712" cy="2944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09776" cy="294513"/>
            </a:xfrm>
            <a:custGeom>
              <a:avLst/>
              <a:gdLst/>
              <a:ahLst/>
              <a:cxnLst/>
              <a:rect r="r" b="b" t="t" l="l"/>
              <a:pathLst>
                <a:path h="294513" w="1509776">
                  <a:moveTo>
                    <a:pt x="0" y="22733"/>
                  </a:moveTo>
                  <a:cubicBezTo>
                    <a:pt x="0" y="10160"/>
                    <a:pt x="10160" y="0"/>
                    <a:pt x="22733" y="0"/>
                  </a:cubicBezTo>
                  <a:lnTo>
                    <a:pt x="1487043" y="0"/>
                  </a:lnTo>
                  <a:cubicBezTo>
                    <a:pt x="1499616" y="0"/>
                    <a:pt x="1509776" y="10160"/>
                    <a:pt x="1509776" y="22733"/>
                  </a:cubicBezTo>
                  <a:lnTo>
                    <a:pt x="1509776" y="271780"/>
                  </a:lnTo>
                  <a:cubicBezTo>
                    <a:pt x="1509776" y="284353"/>
                    <a:pt x="1499616" y="294513"/>
                    <a:pt x="1487043" y="294513"/>
                  </a:cubicBezTo>
                  <a:lnTo>
                    <a:pt x="22733" y="294513"/>
                  </a:lnTo>
                  <a:cubicBezTo>
                    <a:pt x="10160" y="294513"/>
                    <a:pt x="0" y="284353"/>
                    <a:pt x="0" y="271780"/>
                  </a:cubicBezTo>
                  <a:close/>
                </a:path>
              </a:pathLst>
            </a:custGeom>
            <a:solidFill>
              <a:srgbClr val="ECE6DF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77220" y="812597"/>
            <a:ext cx="1876720" cy="145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0"/>
              </a:lnSpc>
            </a:pPr>
            <a:r>
              <a:rPr lang="en-US" sz="8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TARGET MARKET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1000277"/>
            <a:ext cx="4458443" cy="4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484237"/>
                </a:solidFill>
                <a:latin typeface="Arimo"/>
                <a:ea typeface="Arimo"/>
                <a:cs typeface="Arimo"/>
                <a:sym typeface="Arimo"/>
              </a:rPr>
              <a:t>Who We Serve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45855" y="4456433"/>
            <a:ext cx="7978826" cy="119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599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Smart Inventory AI is designed for any industry where product expiry, demand variability, and inventory waste directly impact profitability.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326461" y="1657645"/>
            <a:ext cx="7978826" cy="7978826"/>
            <a:chOff x="0" y="0"/>
            <a:chExt cx="10638434" cy="10638434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10638409" cy="10638409"/>
            </a:xfrm>
            <a:custGeom>
              <a:avLst/>
              <a:gdLst/>
              <a:ahLst/>
              <a:cxnLst/>
              <a:rect r="r" b="b" t="t" l="l"/>
              <a:pathLst>
                <a:path h="10638409" w="10638409">
                  <a:moveTo>
                    <a:pt x="0" y="0"/>
                  </a:moveTo>
                  <a:lnTo>
                    <a:pt x="10638409" y="0"/>
                  </a:lnTo>
                  <a:lnTo>
                    <a:pt x="10638409" y="10638409"/>
                  </a:lnTo>
                  <a:lnTo>
                    <a:pt x="0" y="106384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Freeform 13" id="13" descr="preencoded.png"/>
          <p:cNvSpPr/>
          <p:nvPr/>
        </p:nvSpPr>
        <p:spPr>
          <a:xfrm flipH="false" flipV="false" rot="0">
            <a:off x="1045369" y="10371458"/>
            <a:ext cx="212522" cy="212522"/>
          </a:xfrm>
          <a:custGeom>
            <a:avLst/>
            <a:gdLst/>
            <a:ahLst/>
            <a:cxnLst/>
            <a:rect r="r" b="b" t="t" l="l"/>
            <a:pathLst>
              <a:path h="212522" w="212522">
                <a:moveTo>
                  <a:pt x="0" y="0"/>
                </a:moveTo>
                <a:lnTo>
                  <a:pt x="212522" y="0"/>
                </a:lnTo>
                <a:lnTo>
                  <a:pt x="212522" y="212522"/>
                </a:lnTo>
                <a:lnTo>
                  <a:pt x="0" y="2125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8694" t="0" r="-8699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452858" y="10338492"/>
            <a:ext cx="2571598" cy="250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2"/>
              </a:lnSpc>
            </a:pPr>
            <a:r>
              <a:rPr lang="en-US" sz="13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Food Manufacturing &amp; FMCG</a:t>
            </a:r>
          </a:p>
        </p:txBody>
      </p:sp>
      <p:sp>
        <p:nvSpPr>
          <p:cNvPr name="Freeform 15" id="15" descr="preencoded.png"/>
          <p:cNvSpPr/>
          <p:nvPr/>
        </p:nvSpPr>
        <p:spPr>
          <a:xfrm flipH="false" flipV="false" rot="0">
            <a:off x="9241336" y="10371458"/>
            <a:ext cx="212522" cy="212522"/>
          </a:xfrm>
          <a:custGeom>
            <a:avLst/>
            <a:gdLst/>
            <a:ahLst/>
            <a:cxnLst/>
            <a:rect r="r" b="b" t="t" l="l"/>
            <a:pathLst>
              <a:path h="212522" w="212522">
                <a:moveTo>
                  <a:pt x="0" y="0"/>
                </a:moveTo>
                <a:lnTo>
                  <a:pt x="212522" y="0"/>
                </a:lnTo>
                <a:lnTo>
                  <a:pt x="212522" y="212522"/>
                </a:lnTo>
                <a:lnTo>
                  <a:pt x="0" y="2125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8694" t="0" r="-8699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9648825" y="10338492"/>
            <a:ext cx="2363686" cy="250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2"/>
              </a:lnSpc>
            </a:pPr>
            <a:r>
              <a:rPr lang="en-US" sz="13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Pharmacies &amp; Cold Storage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DCFB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9F6F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92238" y="807244"/>
            <a:ext cx="1732064" cy="467316"/>
            <a:chOff x="0" y="0"/>
            <a:chExt cx="2309419" cy="62308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09495" cy="623189"/>
            </a:xfrm>
            <a:custGeom>
              <a:avLst/>
              <a:gdLst/>
              <a:ahLst/>
              <a:cxnLst/>
              <a:rect r="r" b="b" t="t" l="l"/>
              <a:pathLst>
                <a:path h="623189" w="2309495">
                  <a:moveTo>
                    <a:pt x="0" y="41148"/>
                  </a:moveTo>
                  <a:cubicBezTo>
                    <a:pt x="0" y="18415"/>
                    <a:pt x="18415" y="0"/>
                    <a:pt x="41148" y="0"/>
                  </a:cubicBezTo>
                  <a:lnTo>
                    <a:pt x="2268347" y="0"/>
                  </a:lnTo>
                  <a:cubicBezTo>
                    <a:pt x="2291080" y="0"/>
                    <a:pt x="2309495" y="18415"/>
                    <a:pt x="2309495" y="41148"/>
                  </a:cubicBezTo>
                  <a:lnTo>
                    <a:pt x="2309495" y="582041"/>
                  </a:lnTo>
                  <a:cubicBezTo>
                    <a:pt x="2309495" y="604774"/>
                    <a:pt x="2291080" y="623189"/>
                    <a:pt x="2268347" y="623189"/>
                  </a:cubicBezTo>
                  <a:lnTo>
                    <a:pt x="41148" y="623189"/>
                  </a:lnTo>
                  <a:cubicBezTo>
                    <a:pt x="18415" y="623062"/>
                    <a:pt x="0" y="604647"/>
                    <a:pt x="0" y="582041"/>
                  </a:cubicBezTo>
                  <a:close/>
                </a:path>
              </a:pathLst>
            </a:custGeom>
            <a:solidFill>
              <a:srgbClr val="ECE6DF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146277" y="817512"/>
            <a:ext cx="2338388" cy="380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8"/>
              </a:lnSpc>
            </a:pPr>
            <a:r>
              <a:rPr lang="en-US" sz="16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TECHNOLOGY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1319955"/>
            <a:ext cx="7338117" cy="850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39"/>
              </a:lnSpc>
            </a:pPr>
            <a:r>
              <a:rPr lang="en-US" sz="4999">
                <a:solidFill>
                  <a:srgbClr val="484237"/>
                </a:solidFill>
                <a:latin typeface="Arimo"/>
                <a:ea typeface="Arimo"/>
                <a:cs typeface="Arimo"/>
                <a:sym typeface="Arimo"/>
              </a:rPr>
              <a:t>Technology Stack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238" y="2452983"/>
            <a:ext cx="17217923" cy="458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8"/>
              </a:lnSpc>
            </a:pPr>
            <a:r>
              <a:rPr lang="en-US" sz="20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A modern, end-to-end stack built for scalability and real-time intelligence.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87476" y="3168701"/>
            <a:ext cx="16313048" cy="6315818"/>
            <a:chOff x="0" y="0"/>
            <a:chExt cx="21750731" cy="842109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750655" cy="8421116"/>
            </a:xfrm>
            <a:custGeom>
              <a:avLst/>
              <a:gdLst/>
              <a:ahLst/>
              <a:cxnLst/>
              <a:rect r="r" b="b" t="t" l="l"/>
              <a:pathLst>
                <a:path h="8421116" w="21750655">
                  <a:moveTo>
                    <a:pt x="0" y="51435"/>
                  </a:moveTo>
                  <a:cubicBezTo>
                    <a:pt x="0" y="22987"/>
                    <a:pt x="22987" y="0"/>
                    <a:pt x="51435" y="0"/>
                  </a:cubicBezTo>
                  <a:lnTo>
                    <a:pt x="21699220" y="0"/>
                  </a:lnTo>
                  <a:cubicBezTo>
                    <a:pt x="21727668" y="0"/>
                    <a:pt x="21750655" y="22987"/>
                    <a:pt x="21750655" y="51435"/>
                  </a:cubicBezTo>
                  <a:lnTo>
                    <a:pt x="21750655" y="8369681"/>
                  </a:lnTo>
                  <a:cubicBezTo>
                    <a:pt x="21750655" y="8398129"/>
                    <a:pt x="21727668" y="8421116"/>
                    <a:pt x="21699220" y="8421116"/>
                  </a:cubicBezTo>
                  <a:lnTo>
                    <a:pt x="51435" y="8421116"/>
                  </a:lnTo>
                  <a:cubicBezTo>
                    <a:pt x="22987" y="8421116"/>
                    <a:pt x="0" y="8398129"/>
                    <a:pt x="0" y="8369681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7" r="0" b="-327"/>
              </a:stretch>
            </a:blipFill>
            <a:ln w="9526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1258786" y="3265437"/>
            <a:ext cx="6095400" cy="458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8"/>
              </a:lnSpc>
            </a:pPr>
            <a:r>
              <a:rPr lang="en-US" sz="2000" b="true">
                <a:solidFill>
                  <a:srgbClr val="746558"/>
                </a:solidFill>
                <a:latin typeface="Arimo Bold"/>
                <a:ea typeface="Arimo Bold"/>
                <a:cs typeface="Arimo Bold"/>
                <a:sym typeface="Arimo Bold"/>
              </a:rPr>
              <a:t>Layer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963070" y="3265437"/>
            <a:ext cx="10980687" cy="458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8"/>
              </a:lnSpc>
            </a:pPr>
            <a:r>
              <a:rPr lang="en-US" sz="2000" b="true">
                <a:solidFill>
                  <a:srgbClr val="746558"/>
                </a:solidFill>
                <a:latin typeface="Arimo Bold"/>
                <a:ea typeface="Arimo Bold"/>
                <a:cs typeface="Arimo Bold"/>
                <a:sym typeface="Arimo Bold"/>
              </a:rPr>
              <a:t>Technology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58786" y="3965077"/>
            <a:ext cx="6095400" cy="458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8"/>
              </a:lnSpc>
            </a:pPr>
            <a:r>
              <a:rPr lang="en-US" sz="20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Data Collection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963070" y="3965077"/>
            <a:ext cx="10980687" cy="458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8"/>
              </a:lnSpc>
            </a:pPr>
            <a:r>
              <a:rPr lang="en-US" sz="20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Excel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58786" y="4664716"/>
            <a:ext cx="6095400" cy="458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8"/>
              </a:lnSpc>
            </a:pPr>
            <a:r>
              <a:rPr lang="en-US" sz="20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Database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963070" y="4664716"/>
            <a:ext cx="10980687" cy="458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8"/>
              </a:lnSpc>
            </a:pPr>
            <a:r>
              <a:rPr lang="en-US" sz="20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MySQL / SQL Server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58786" y="5364366"/>
            <a:ext cx="6095400" cy="458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8"/>
              </a:lnSpc>
            </a:pPr>
            <a:r>
              <a:rPr lang="en-US" sz="20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Backend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963070" y="5364366"/>
            <a:ext cx="10980687" cy="458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8"/>
              </a:lnSpc>
            </a:pPr>
            <a:r>
              <a:rPr lang="en-US" sz="20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Python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58786" y="6064006"/>
            <a:ext cx="6095400" cy="458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8"/>
              </a:lnSpc>
            </a:pPr>
            <a:r>
              <a:rPr lang="en-US" sz="20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Data Processing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963070" y="6064006"/>
            <a:ext cx="10980687" cy="458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8"/>
              </a:lnSpc>
            </a:pPr>
            <a:r>
              <a:rPr lang="en-US" sz="20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Pandas, NumPy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58786" y="6763645"/>
            <a:ext cx="6095400" cy="458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8"/>
              </a:lnSpc>
            </a:pPr>
            <a:r>
              <a:rPr lang="en-US" sz="20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Machine Learning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963070" y="6763645"/>
            <a:ext cx="10980687" cy="458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8"/>
              </a:lnSpc>
            </a:pPr>
            <a:r>
              <a:rPr lang="en-US" sz="20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Scikit-learn, XGBoost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58786" y="7463285"/>
            <a:ext cx="6095400" cy="458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8"/>
              </a:lnSpc>
            </a:pPr>
            <a:r>
              <a:rPr lang="en-US" sz="20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Dashboard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963070" y="7463285"/>
            <a:ext cx="10980687" cy="458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8"/>
              </a:lnSpc>
            </a:pPr>
            <a:r>
              <a:rPr lang="en-US" sz="20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Power BI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58786" y="8162925"/>
            <a:ext cx="6095400" cy="458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8"/>
              </a:lnSpc>
            </a:pPr>
            <a:r>
              <a:rPr lang="en-US" sz="20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Web Application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963070" y="8162925"/>
            <a:ext cx="10980687" cy="458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8"/>
              </a:lnSpc>
            </a:pPr>
            <a:r>
              <a:rPr lang="en-US" sz="20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Streamlit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58786" y="8862565"/>
            <a:ext cx="6095400" cy="458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8"/>
              </a:lnSpc>
            </a:pPr>
            <a:r>
              <a:rPr lang="en-US" sz="20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Version Control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963070" y="8862565"/>
            <a:ext cx="10980687" cy="458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8"/>
              </a:lnSpc>
            </a:pPr>
            <a:r>
              <a:rPr lang="en-US" sz="20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Git &amp; GitHub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DCFB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9F6F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92238" y="801138"/>
            <a:ext cx="1592761" cy="365522"/>
            <a:chOff x="0" y="0"/>
            <a:chExt cx="2123681" cy="48736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23694" cy="487426"/>
            </a:xfrm>
            <a:custGeom>
              <a:avLst/>
              <a:gdLst/>
              <a:ahLst/>
              <a:cxnLst/>
              <a:rect r="r" b="b" t="t" l="l"/>
              <a:pathLst>
                <a:path h="487426" w="2123694">
                  <a:moveTo>
                    <a:pt x="0" y="34036"/>
                  </a:moveTo>
                  <a:cubicBezTo>
                    <a:pt x="0" y="15240"/>
                    <a:pt x="15240" y="0"/>
                    <a:pt x="34036" y="0"/>
                  </a:cubicBezTo>
                  <a:lnTo>
                    <a:pt x="2089658" y="0"/>
                  </a:lnTo>
                  <a:cubicBezTo>
                    <a:pt x="2108454" y="0"/>
                    <a:pt x="2123694" y="15240"/>
                    <a:pt x="2123694" y="34036"/>
                  </a:cubicBezTo>
                  <a:lnTo>
                    <a:pt x="2123694" y="453390"/>
                  </a:lnTo>
                  <a:cubicBezTo>
                    <a:pt x="2123694" y="472186"/>
                    <a:pt x="2108454" y="487426"/>
                    <a:pt x="2089658" y="487426"/>
                  </a:cubicBezTo>
                  <a:lnTo>
                    <a:pt x="34036" y="487426"/>
                  </a:lnTo>
                  <a:cubicBezTo>
                    <a:pt x="15240" y="487426"/>
                    <a:pt x="0" y="472186"/>
                    <a:pt x="0" y="453390"/>
                  </a:cubicBezTo>
                  <a:close/>
                </a:path>
              </a:pathLst>
            </a:custGeom>
            <a:solidFill>
              <a:srgbClr val="ECE6DF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119778" y="817216"/>
            <a:ext cx="2252072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5"/>
              </a:lnSpc>
            </a:pPr>
            <a:r>
              <a:rPr lang="en-US" sz="13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ARCHITECTURE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1192263"/>
            <a:ext cx="9515475" cy="702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16"/>
              </a:lnSpc>
            </a:pPr>
            <a:r>
              <a:rPr lang="en-US" sz="4100">
                <a:solidFill>
                  <a:srgbClr val="484237"/>
                </a:solidFill>
                <a:latin typeface="Arimo"/>
                <a:ea typeface="Arimo"/>
                <a:cs typeface="Arimo"/>
                <a:sym typeface="Arimo"/>
              </a:rPr>
              <a:t>System Architecture &amp; Workflow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238" y="2086423"/>
            <a:ext cx="16303523" cy="700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7"/>
              </a:lnSpc>
            </a:pPr>
            <a:r>
              <a:rPr lang="en-US" sz="1999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The system follows a structured pipeline: data is collected via Excel, stored in SQL databases, processed with Python (Pandas, NumPy), analyzed using ML models (Scikit-learn, XGBoost), and visualized through Power BI dashboards and a Streamlit web application.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2804817" y="3273919"/>
            <a:ext cx="12678366" cy="5802506"/>
            <a:chOff x="0" y="0"/>
            <a:chExt cx="16904487" cy="7736675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16904463" cy="7736713"/>
            </a:xfrm>
            <a:custGeom>
              <a:avLst/>
              <a:gdLst/>
              <a:ahLst/>
              <a:cxnLst/>
              <a:rect r="r" b="b" t="t" l="l"/>
              <a:pathLst>
                <a:path h="7736713" w="16904463">
                  <a:moveTo>
                    <a:pt x="0" y="0"/>
                  </a:moveTo>
                  <a:lnTo>
                    <a:pt x="16904463" y="0"/>
                  </a:lnTo>
                  <a:lnTo>
                    <a:pt x="16904463" y="7736713"/>
                  </a:lnTo>
                  <a:lnTo>
                    <a:pt x="0" y="77367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1" r="0" b="-31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2512726" y="7304722"/>
            <a:ext cx="2380288" cy="487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4"/>
              </a:lnSpc>
            </a:pPr>
            <a:r>
              <a:rPr lang="en-US" sz="2799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Dashboard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512913" y="7304722"/>
            <a:ext cx="2380288" cy="487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4"/>
              </a:lnSpc>
            </a:pPr>
            <a:r>
              <a:rPr lang="en-US" sz="2799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Predict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529407" y="7304722"/>
            <a:ext cx="2380288" cy="487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4"/>
              </a:lnSpc>
            </a:pPr>
            <a:r>
              <a:rPr lang="en-US" sz="2799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ML Process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480683" y="7304722"/>
            <a:ext cx="2380288" cy="487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4"/>
              </a:lnSpc>
            </a:pPr>
            <a:r>
              <a:rPr lang="en-US" sz="2799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Ingest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92238" y="8833399"/>
            <a:ext cx="16303523" cy="745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8"/>
              </a:lnSpc>
            </a:pPr>
            <a:r>
              <a:rPr lang="en-US" sz="2099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Input data includes inventory records, expiry dates, and sales history. The system outputs expiry risk scores, demand forecasts, revenue-at-risk estimates, smart discount recommendations, and stock transfer suggestions.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DCFB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9F6F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92238" y="779707"/>
            <a:ext cx="935384" cy="220856"/>
            <a:chOff x="0" y="0"/>
            <a:chExt cx="1247178" cy="2944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47267" cy="294513"/>
            </a:xfrm>
            <a:custGeom>
              <a:avLst/>
              <a:gdLst/>
              <a:ahLst/>
              <a:cxnLst/>
              <a:rect r="r" b="b" t="t" l="l"/>
              <a:pathLst>
                <a:path h="294513" w="1247267">
                  <a:moveTo>
                    <a:pt x="0" y="22733"/>
                  </a:moveTo>
                  <a:cubicBezTo>
                    <a:pt x="0" y="10160"/>
                    <a:pt x="10160" y="0"/>
                    <a:pt x="22733" y="0"/>
                  </a:cubicBezTo>
                  <a:lnTo>
                    <a:pt x="1224534" y="0"/>
                  </a:lnTo>
                  <a:cubicBezTo>
                    <a:pt x="1237107" y="0"/>
                    <a:pt x="1247267" y="10160"/>
                    <a:pt x="1247267" y="22733"/>
                  </a:cubicBezTo>
                  <a:lnTo>
                    <a:pt x="1247267" y="271780"/>
                  </a:lnTo>
                  <a:cubicBezTo>
                    <a:pt x="1247267" y="284353"/>
                    <a:pt x="1237107" y="294513"/>
                    <a:pt x="1224534" y="294513"/>
                  </a:cubicBezTo>
                  <a:lnTo>
                    <a:pt x="22733" y="294513"/>
                  </a:lnTo>
                  <a:cubicBezTo>
                    <a:pt x="10160" y="294513"/>
                    <a:pt x="0" y="284353"/>
                    <a:pt x="0" y="271780"/>
                  </a:cubicBezTo>
                  <a:close/>
                </a:path>
              </a:pathLst>
            </a:custGeom>
            <a:solidFill>
              <a:srgbClr val="ECE6DF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77220" y="812597"/>
            <a:ext cx="1679819" cy="145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0"/>
              </a:lnSpc>
            </a:pPr>
            <a:r>
              <a:rPr lang="en-US" sz="8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COMPARISON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1000277"/>
            <a:ext cx="7718669" cy="4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484237"/>
                </a:solidFill>
                <a:latin typeface="Arimo"/>
                <a:ea typeface="Arimo"/>
                <a:cs typeface="Arimo"/>
                <a:sym typeface="Arimo"/>
              </a:rPr>
              <a:t>Existing System vs. Smart Inventory AI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32082" y="3812338"/>
            <a:ext cx="7978826" cy="158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599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Traditional systems are </a:t>
            </a:r>
            <a:r>
              <a:rPr lang="en-US" sz="2599" b="true">
                <a:solidFill>
                  <a:srgbClr val="746558"/>
                </a:solidFill>
                <a:latin typeface="Arimo Bold"/>
                <a:ea typeface="Arimo Bold"/>
                <a:cs typeface="Arimo Bold"/>
                <a:sym typeface="Arimo Bold"/>
              </a:rPr>
              <a:t>reactive</a:t>
            </a:r>
            <a:r>
              <a:rPr lang="en-US" sz="2599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 — they report what already happened. Smart Inventory AI is </a:t>
            </a:r>
            <a:r>
              <a:rPr lang="en-US" sz="2599" b="true">
                <a:solidFill>
                  <a:srgbClr val="746558"/>
                </a:solidFill>
                <a:latin typeface="Arimo Bold"/>
                <a:ea typeface="Arimo Bold"/>
                <a:cs typeface="Arimo Bold"/>
                <a:sym typeface="Arimo Bold"/>
              </a:rPr>
              <a:t>predictive and prescriptive</a:t>
            </a:r>
            <a:r>
              <a:rPr lang="en-US" sz="2599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 — it tells businesses what will happen and what to do about it.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144000" y="958148"/>
            <a:ext cx="8709270" cy="8746336"/>
            <a:chOff x="0" y="0"/>
            <a:chExt cx="11612361" cy="11661781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11612332" cy="11661753"/>
            </a:xfrm>
            <a:custGeom>
              <a:avLst/>
              <a:gdLst/>
              <a:ahLst/>
              <a:cxnLst/>
              <a:rect r="r" b="b" t="t" l="l"/>
              <a:pathLst>
                <a:path h="11661753" w="11612332">
                  <a:moveTo>
                    <a:pt x="0" y="0"/>
                  </a:moveTo>
                  <a:lnTo>
                    <a:pt x="11612332" y="0"/>
                  </a:lnTo>
                  <a:lnTo>
                    <a:pt x="11612332" y="11661753"/>
                  </a:lnTo>
                  <a:lnTo>
                    <a:pt x="0" y="116617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12" t="0" r="-213" b="0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DCFB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9F6F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92238" y="870642"/>
            <a:ext cx="2062610" cy="375342"/>
            <a:chOff x="0" y="0"/>
            <a:chExt cx="2750147" cy="50045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50058" cy="500381"/>
            </a:xfrm>
            <a:custGeom>
              <a:avLst/>
              <a:gdLst/>
              <a:ahLst/>
              <a:cxnLst/>
              <a:rect r="r" b="b" t="t" l="l"/>
              <a:pathLst>
                <a:path h="500381" w="2750058">
                  <a:moveTo>
                    <a:pt x="0" y="34671"/>
                  </a:moveTo>
                  <a:cubicBezTo>
                    <a:pt x="0" y="15494"/>
                    <a:pt x="15494" y="0"/>
                    <a:pt x="34671" y="0"/>
                  </a:cubicBezTo>
                  <a:lnTo>
                    <a:pt x="2715387" y="0"/>
                  </a:lnTo>
                  <a:cubicBezTo>
                    <a:pt x="2734564" y="0"/>
                    <a:pt x="2750058" y="15494"/>
                    <a:pt x="2750058" y="34671"/>
                  </a:cubicBezTo>
                  <a:lnTo>
                    <a:pt x="2750058" y="465709"/>
                  </a:lnTo>
                  <a:cubicBezTo>
                    <a:pt x="2750058" y="484886"/>
                    <a:pt x="2734564" y="500380"/>
                    <a:pt x="2715387" y="500380"/>
                  </a:cubicBezTo>
                  <a:lnTo>
                    <a:pt x="34671" y="500380"/>
                  </a:lnTo>
                  <a:cubicBezTo>
                    <a:pt x="15494" y="500507"/>
                    <a:pt x="0" y="484886"/>
                    <a:pt x="0" y="465709"/>
                  </a:cubicBezTo>
                  <a:close/>
                </a:path>
              </a:pathLst>
            </a:custGeom>
            <a:solidFill>
              <a:srgbClr val="ECE6DF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122464" y="888054"/>
            <a:ext cx="2716559" cy="292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0"/>
              </a:lnSpc>
            </a:pPr>
            <a:r>
              <a:rPr lang="en-US" sz="13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MACHINE LEARNING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1274264"/>
            <a:ext cx="10086680" cy="716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41"/>
              </a:lnSpc>
            </a:pPr>
            <a:r>
              <a:rPr lang="en-US" sz="4200">
                <a:solidFill>
                  <a:srgbClr val="484237"/>
                </a:solidFill>
                <a:latin typeface="Arimo"/>
                <a:ea typeface="Arimo"/>
                <a:cs typeface="Arimo"/>
                <a:sym typeface="Arimo"/>
              </a:rPr>
              <a:t>ML Models Powering the Platform</a:t>
            </a:r>
          </a:p>
        </p:txBody>
      </p:sp>
      <p:sp>
        <p:nvSpPr>
          <p:cNvPr name="Freeform 10" id="10" descr="preencoded.png"/>
          <p:cNvSpPr/>
          <p:nvPr/>
        </p:nvSpPr>
        <p:spPr>
          <a:xfrm flipH="false" flipV="false" rot="0">
            <a:off x="992238" y="2240013"/>
            <a:ext cx="16303523" cy="1302391"/>
          </a:xfrm>
          <a:custGeom>
            <a:avLst/>
            <a:gdLst/>
            <a:ahLst/>
            <a:cxnLst/>
            <a:rect r="r" b="b" t="t" l="l"/>
            <a:pathLst>
              <a:path h="1302391" w="16303523">
                <a:moveTo>
                  <a:pt x="0" y="0"/>
                </a:moveTo>
                <a:lnTo>
                  <a:pt x="16303524" y="0"/>
                </a:lnTo>
                <a:lnTo>
                  <a:pt x="16303524" y="1302392"/>
                </a:lnTo>
                <a:lnTo>
                  <a:pt x="0" y="13023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87" r="0" b="-87"/>
            </a:stretch>
          </a:blipFill>
        </p:spPr>
      </p:sp>
      <p:sp>
        <p:nvSpPr>
          <p:cNvPr name="Freeform 11" id="11" descr="preencoded.png"/>
          <p:cNvSpPr/>
          <p:nvPr/>
        </p:nvSpPr>
        <p:spPr>
          <a:xfrm flipH="false" flipV="false" rot="0">
            <a:off x="1292123" y="2728322"/>
            <a:ext cx="325488" cy="325488"/>
          </a:xfrm>
          <a:custGeom>
            <a:avLst/>
            <a:gdLst/>
            <a:ahLst/>
            <a:cxnLst/>
            <a:rect r="r" b="b" t="t" l="l"/>
            <a:pathLst>
              <a:path h="325488" w="325488">
                <a:moveTo>
                  <a:pt x="0" y="0"/>
                </a:moveTo>
                <a:lnTo>
                  <a:pt x="325489" y="0"/>
                </a:lnTo>
                <a:lnTo>
                  <a:pt x="325489" y="325488"/>
                </a:lnTo>
                <a:lnTo>
                  <a:pt x="0" y="32548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055171" y="2466527"/>
            <a:ext cx="2713434" cy="358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Expiry Prediction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055171" y="2867177"/>
            <a:ext cx="14995027" cy="363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7"/>
              </a:lnSpc>
            </a:pPr>
            <a:r>
              <a:rPr lang="en-US" sz="1700" b="true">
                <a:solidFill>
                  <a:srgbClr val="746558"/>
                </a:solidFill>
                <a:latin typeface="Arimo Bold"/>
                <a:ea typeface="Arimo Bold"/>
                <a:cs typeface="Arimo Bold"/>
                <a:sym typeface="Arimo Bold"/>
              </a:rPr>
              <a:t>Random Forest</a:t>
            </a:r>
            <a:r>
              <a:rPr lang="en-US" sz="17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 — Predicts which products are at risk of expiring unsold.</a:t>
            </a:r>
          </a:p>
        </p:txBody>
      </p:sp>
      <p:sp>
        <p:nvSpPr>
          <p:cNvPr name="Freeform 14" id="14" descr="preencoded.png"/>
          <p:cNvSpPr/>
          <p:nvPr/>
        </p:nvSpPr>
        <p:spPr>
          <a:xfrm flipH="false" flipV="false" rot="0">
            <a:off x="992238" y="3708502"/>
            <a:ext cx="16303523" cy="1302391"/>
          </a:xfrm>
          <a:custGeom>
            <a:avLst/>
            <a:gdLst/>
            <a:ahLst/>
            <a:cxnLst/>
            <a:rect r="r" b="b" t="t" l="l"/>
            <a:pathLst>
              <a:path h="1302391" w="16303523">
                <a:moveTo>
                  <a:pt x="0" y="0"/>
                </a:moveTo>
                <a:lnTo>
                  <a:pt x="16303524" y="0"/>
                </a:lnTo>
                <a:lnTo>
                  <a:pt x="16303524" y="1302391"/>
                </a:lnTo>
                <a:lnTo>
                  <a:pt x="0" y="130239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87" r="0" b="-87"/>
            </a:stretch>
          </a:blipFill>
        </p:spPr>
      </p:sp>
      <p:sp>
        <p:nvSpPr>
          <p:cNvPr name="Freeform 15" id="15" descr="preencoded.png"/>
          <p:cNvSpPr/>
          <p:nvPr/>
        </p:nvSpPr>
        <p:spPr>
          <a:xfrm flipH="false" flipV="false" rot="0">
            <a:off x="1292123" y="4196801"/>
            <a:ext cx="325488" cy="325488"/>
          </a:xfrm>
          <a:custGeom>
            <a:avLst/>
            <a:gdLst/>
            <a:ahLst/>
            <a:cxnLst/>
            <a:rect r="r" b="b" t="t" l="l"/>
            <a:pathLst>
              <a:path h="325488" w="325488">
                <a:moveTo>
                  <a:pt x="0" y="0"/>
                </a:moveTo>
                <a:lnTo>
                  <a:pt x="325489" y="0"/>
                </a:lnTo>
                <a:lnTo>
                  <a:pt x="325489" y="325488"/>
                </a:lnTo>
                <a:lnTo>
                  <a:pt x="0" y="32548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11427" t="0" r="-1143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2055171" y="3935016"/>
            <a:ext cx="2713434" cy="358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Demand Forecast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055171" y="4335656"/>
            <a:ext cx="14995027" cy="363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7"/>
              </a:lnSpc>
            </a:pPr>
            <a:r>
              <a:rPr lang="en-US" sz="1700" b="true">
                <a:solidFill>
                  <a:srgbClr val="746558"/>
                </a:solidFill>
                <a:latin typeface="Arimo Bold"/>
                <a:ea typeface="Arimo Bold"/>
                <a:cs typeface="Arimo Bold"/>
                <a:sym typeface="Arimo Bold"/>
              </a:rPr>
              <a:t>XGBoost</a:t>
            </a:r>
            <a:r>
              <a:rPr lang="en-US" sz="17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 — Accurate future demand prediction for smarter stocking.</a:t>
            </a:r>
          </a:p>
        </p:txBody>
      </p:sp>
      <p:sp>
        <p:nvSpPr>
          <p:cNvPr name="Freeform 18" id="18" descr="preencoded.png"/>
          <p:cNvSpPr/>
          <p:nvPr/>
        </p:nvSpPr>
        <p:spPr>
          <a:xfrm flipH="false" flipV="false" rot="0">
            <a:off x="992238" y="5176990"/>
            <a:ext cx="16303523" cy="1302391"/>
          </a:xfrm>
          <a:custGeom>
            <a:avLst/>
            <a:gdLst/>
            <a:ahLst/>
            <a:cxnLst/>
            <a:rect r="r" b="b" t="t" l="l"/>
            <a:pathLst>
              <a:path h="1302391" w="16303523">
                <a:moveTo>
                  <a:pt x="0" y="0"/>
                </a:moveTo>
                <a:lnTo>
                  <a:pt x="16303524" y="0"/>
                </a:lnTo>
                <a:lnTo>
                  <a:pt x="16303524" y="1302391"/>
                </a:lnTo>
                <a:lnTo>
                  <a:pt x="0" y="130239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87" r="0" b="-87"/>
            </a:stretch>
          </a:blipFill>
        </p:spPr>
      </p:sp>
      <p:sp>
        <p:nvSpPr>
          <p:cNvPr name="Freeform 19" id="19" descr="preencoded.png"/>
          <p:cNvSpPr/>
          <p:nvPr/>
        </p:nvSpPr>
        <p:spPr>
          <a:xfrm flipH="false" flipV="false" rot="0">
            <a:off x="1292123" y="5665289"/>
            <a:ext cx="325488" cy="325488"/>
          </a:xfrm>
          <a:custGeom>
            <a:avLst/>
            <a:gdLst/>
            <a:ahLst/>
            <a:cxnLst/>
            <a:rect r="r" b="b" t="t" l="l"/>
            <a:pathLst>
              <a:path h="325488" w="325488">
                <a:moveTo>
                  <a:pt x="0" y="0"/>
                </a:moveTo>
                <a:lnTo>
                  <a:pt x="325489" y="0"/>
                </a:lnTo>
                <a:lnTo>
                  <a:pt x="325489" y="325488"/>
                </a:lnTo>
                <a:lnTo>
                  <a:pt x="0" y="32548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50000" r="0" b="-5000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2055171" y="5403504"/>
            <a:ext cx="2713434" cy="358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Revenue Prediction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055171" y="5804144"/>
            <a:ext cx="14995027" cy="363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7"/>
              </a:lnSpc>
            </a:pPr>
            <a:r>
              <a:rPr lang="en-US" sz="1700" b="true">
                <a:solidFill>
                  <a:srgbClr val="746558"/>
                </a:solidFill>
                <a:latin typeface="Arimo Bold"/>
                <a:ea typeface="Arimo Bold"/>
                <a:cs typeface="Arimo Bold"/>
                <a:sym typeface="Arimo Bold"/>
              </a:rPr>
              <a:t>Linear Regression</a:t>
            </a:r>
            <a:r>
              <a:rPr lang="en-US" sz="17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 — Estimates potential revenue loss and recovery.</a:t>
            </a:r>
          </a:p>
        </p:txBody>
      </p:sp>
      <p:sp>
        <p:nvSpPr>
          <p:cNvPr name="Freeform 22" id="22" descr="preencoded.png"/>
          <p:cNvSpPr/>
          <p:nvPr/>
        </p:nvSpPr>
        <p:spPr>
          <a:xfrm flipH="false" flipV="false" rot="0">
            <a:off x="992238" y="6645478"/>
            <a:ext cx="16303523" cy="1302391"/>
          </a:xfrm>
          <a:custGeom>
            <a:avLst/>
            <a:gdLst/>
            <a:ahLst/>
            <a:cxnLst/>
            <a:rect r="r" b="b" t="t" l="l"/>
            <a:pathLst>
              <a:path h="1302391" w="16303523">
                <a:moveTo>
                  <a:pt x="0" y="0"/>
                </a:moveTo>
                <a:lnTo>
                  <a:pt x="16303524" y="0"/>
                </a:lnTo>
                <a:lnTo>
                  <a:pt x="16303524" y="1302392"/>
                </a:lnTo>
                <a:lnTo>
                  <a:pt x="0" y="13023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87" r="0" b="-87"/>
            </a:stretch>
          </a:blipFill>
        </p:spPr>
      </p:sp>
      <p:sp>
        <p:nvSpPr>
          <p:cNvPr name="Freeform 23" id="23" descr="preencoded.png"/>
          <p:cNvSpPr/>
          <p:nvPr/>
        </p:nvSpPr>
        <p:spPr>
          <a:xfrm flipH="false" flipV="false" rot="0">
            <a:off x="1292123" y="7133777"/>
            <a:ext cx="325488" cy="325488"/>
          </a:xfrm>
          <a:custGeom>
            <a:avLst/>
            <a:gdLst/>
            <a:ahLst/>
            <a:cxnLst/>
            <a:rect r="r" b="b" t="t" l="l"/>
            <a:pathLst>
              <a:path h="325488" w="325488">
                <a:moveTo>
                  <a:pt x="0" y="0"/>
                </a:moveTo>
                <a:lnTo>
                  <a:pt x="325489" y="0"/>
                </a:lnTo>
                <a:lnTo>
                  <a:pt x="325489" y="325489"/>
                </a:lnTo>
                <a:lnTo>
                  <a:pt x="0" y="32548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-12858" r="0" b="-12855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2055171" y="6871992"/>
            <a:ext cx="2988764" cy="358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Product Segmentation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055171" y="7272633"/>
            <a:ext cx="14995027" cy="363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7"/>
              </a:lnSpc>
            </a:pPr>
            <a:r>
              <a:rPr lang="en-US" sz="1700" b="true">
                <a:solidFill>
                  <a:srgbClr val="746558"/>
                </a:solidFill>
                <a:latin typeface="Arimo Bold"/>
                <a:ea typeface="Arimo Bold"/>
                <a:cs typeface="Arimo Bold"/>
                <a:sym typeface="Arimo Bold"/>
              </a:rPr>
              <a:t>K-Means</a:t>
            </a:r>
            <a:r>
              <a:rPr lang="en-US" sz="17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 — Groups products by risk and behavior for targeted actions.</a:t>
            </a:r>
          </a:p>
        </p:txBody>
      </p:sp>
      <p:sp>
        <p:nvSpPr>
          <p:cNvPr name="Freeform 26" id="26" descr="preencoded.png"/>
          <p:cNvSpPr/>
          <p:nvPr/>
        </p:nvSpPr>
        <p:spPr>
          <a:xfrm flipH="false" flipV="false" rot="0">
            <a:off x="992238" y="8113957"/>
            <a:ext cx="16303523" cy="1302391"/>
          </a:xfrm>
          <a:custGeom>
            <a:avLst/>
            <a:gdLst/>
            <a:ahLst/>
            <a:cxnLst/>
            <a:rect r="r" b="b" t="t" l="l"/>
            <a:pathLst>
              <a:path h="1302391" w="16303523">
                <a:moveTo>
                  <a:pt x="0" y="0"/>
                </a:moveTo>
                <a:lnTo>
                  <a:pt x="16303524" y="0"/>
                </a:lnTo>
                <a:lnTo>
                  <a:pt x="16303524" y="1302391"/>
                </a:lnTo>
                <a:lnTo>
                  <a:pt x="0" y="130239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87" r="0" b="-87"/>
            </a:stretch>
          </a:blipFill>
        </p:spPr>
      </p:sp>
      <p:sp>
        <p:nvSpPr>
          <p:cNvPr name="Freeform 27" id="27" descr="preencoded.png"/>
          <p:cNvSpPr/>
          <p:nvPr/>
        </p:nvSpPr>
        <p:spPr>
          <a:xfrm flipH="false" flipV="false" rot="0">
            <a:off x="1292123" y="8602266"/>
            <a:ext cx="325488" cy="325488"/>
          </a:xfrm>
          <a:custGeom>
            <a:avLst/>
            <a:gdLst/>
            <a:ahLst/>
            <a:cxnLst/>
            <a:rect r="r" b="b" t="t" l="l"/>
            <a:pathLst>
              <a:path h="325488" w="325488">
                <a:moveTo>
                  <a:pt x="0" y="0"/>
                </a:moveTo>
                <a:lnTo>
                  <a:pt x="325489" y="0"/>
                </a:lnTo>
                <a:lnTo>
                  <a:pt x="325489" y="325488"/>
                </a:lnTo>
                <a:lnTo>
                  <a:pt x="0" y="32548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-18570" r="0" b="-1857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2055171" y="8340481"/>
            <a:ext cx="2713434" cy="358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Recommendations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055171" y="8741121"/>
            <a:ext cx="14995027" cy="363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7"/>
              </a:lnSpc>
            </a:pPr>
            <a:r>
              <a:rPr lang="en-US" sz="1700" b="true">
                <a:solidFill>
                  <a:srgbClr val="746558"/>
                </a:solidFill>
                <a:latin typeface="Arimo Bold"/>
                <a:ea typeface="Arimo Bold"/>
                <a:cs typeface="Arimo Bold"/>
                <a:sym typeface="Arimo Bold"/>
              </a:rPr>
              <a:t>Rule-Based + ML</a:t>
            </a:r>
            <a:r>
              <a:rPr lang="en-US" sz="17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 — Generates smart discounts and stock transfer suggestions.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DCFB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9F6F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92238" y="1269806"/>
            <a:ext cx="3151880" cy="532800"/>
            <a:chOff x="0" y="0"/>
            <a:chExt cx="4202506" cy="710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02430" cy="710438"/>
            </a:xfrm>
            <a:custGeom>
              <a:avLst/>
              <a:gdLst/>
              <a:ahLst/>
              <a:cxnLst/>
              <a:rect r="r" b="b" t="t" l="l"/>
              <a:pathLst>
                <a:path h="710438" w="4202430">
                  <a:moveTo>
                    <a:pt x="0" y="45339"/>
                  </a:moveTo>
                  <a:cubicBezTo>
                    <a:pt x="0" y="20320"/>
                    <a:pt x="20320" y="0"/>
                    <a:pt x="45339" y="0"/>
                  </a:cubicBezTo>
                  <a:lnTo>
                    <a:pt x="4157091" y="0"/>
                  </a:lnTo>
                  <a:cubicBezTo>
                    <a:pt x="4182110" y="0"/>
                    <a:pt x="4202430" y="20320"/>
                    <a:pt x="4202430" y="45339"/>
                  </a:cubicBezTo>
                  <a:lnTo>
                    <a:pt x="4202430" y="665099"/>
                  </a:lnTo>
                  <a:cubicBezTo>
                    <a:pt x="4202430" y="690118"/>
                    <a:pt x="4182110" y="710438"/>
                    <a:pt x="4157091" y="710438"/>
                  </a:cubicBezTo>
                  <a:lnTo>
                    <a:pt x="45339" y="710438"/>
                  </a:lnTo>
                  <a:cubicBezTo>
                    <a:pt x="20320" y="710438"/>
                    <a:pt x="0" y="690118"/>
                    <a:pt x="0" y="665099"/>
                  </a:cubicBezTo>
                  <a:close/>
                </a:path>
              </a:pathLst>
            </a:custGeom>
            <a:solidFill>
              <a:srgbClr val="ECE6DF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162345" y="1269054"/>
            <a:ext cx="3726056" cy="448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3"/>
              </a:lnSpc>
            </a:pPr>
            <a:r>
              <a:rPr lang="en-US" sz="17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DASHBOARD &amp; BENEFITS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1858861"/>
            <a:ext cx="14907816" cy="943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>
                <a:solidFill>
                  <a:srgbClr val="484237"/>
                </a:solidFill>
                <a:latin typeface="Arimo"/>
                <a:ea typeface="Arimo"/>
                <a:cs typeface="Arimo"/>
                <a:sym typeface="Arimo"/>
              </a:rPr>
              <a:t>Power BI Dashboard &amp; Expected Impact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238" y="3482130"/>
            <a:ext cx="4458443" cy="4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484237"/>
                </a:solidFill>
                <a:latin typeface="Arimo"/>
                <a:ea typeface="Arimo"/>
                <a:cs typeface="Arimo"/>
                <a:sym typeface="Arimo"/>
              </a:rPr>
              <a:t>Dashboard KPIs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4132364"/>
            <a:ext cx="7805890" cy="2216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0860" indent="-265430" lvl="1">
              <a:lnSpc>
                <a:spcPts val="3511"/>
              </a:lnSpc>
              <a:buFont typeface="Arial"/>
              <a:buChar char="•"/>
            </a:pPr>
            <a:r>
              <a:rPr lang="en-US" sz="22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Total Inventory &amp; Revenue</a:t>
            </a:r>
          </a:p>
          <a:p>
            <a:pPr algn="l" marL="530860" indent="-265430" lvl="1">
              <a:lnSpc>
                <a:spcPts val="3511"/>
              </a:lnSpc>
              <a:buFont typeface="Arial"/>
              <a:buChar char="•"/>
            </a:pPr>
            <a:r>
              <a:rPr lang="en-US" sz="22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Potential Loss &amp; Revenue Recovery</a:t>
            </a:r>
          </a:p>
          <a:p>
            <a:pPr algn="l" marL="530860" indent="-265430" lvl="1">
              <a:lnSpc>
                <a:spcPts val="3511"/>
              </a:lnSpc>
              <a:buFont typeface="Arial"/>
              <a:buChar char="•"/>
            </a:pPr>
            <a:r>
              <a:rPr lang="en-US" sz="22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Inventory Health &amp; High-Risk Products</a:t>
            </a:r>
          </a:p>
          <a:p>
            <a:pPr algn="l" marL="530860" indent="-265430" lvl="1">
              <a:lnSpc>
                <a:spcPts val="3511"/>
              </a:lnSpc>
              <a:buFont typeface="Arial"/>
              <a:buChar char="•"/>
            </a:pPr>
            <a:r>
              <a:rPr lang="en-US" sz="22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Branch Performance &amp; Waste Analysis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2238" y="6603949"/>
            <a:ext cx="4458443" cy="4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484237"/>
                </a:solidFill>
                <a:latin typeface="Arimo"/>
                <a:ea typeface="Arimo"/>
                <a:cs typeface="Arimo"/>
                <a:sym typeface="Arimo"/>
              </a:rPr>
              <a:t>Visual Charts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92238" y="7254183"/>
            <a:ext cx="7805890" cy="1663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0860" indent="-265430" lvl="1">
              <a:lnSpc>
                <a:spcPts val="3511"/>
              </a:lnSpc>
              <a:buFont typeface="Arial"/>
              <a:buChar char="•"/>
            </a:pPr>
            <a:r>
              <a:rPr lang="en-US" sz="22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Sales &amp; Expiry Trends</a:t>
            </a:r>
          </a:p>
          <a:p>
            <a:pPr algn="l" marL="530860" indent="-265430" lvl="1">
              <a:lnSpc>
                <a:spcPts val="3511"/>
              </a:lnSpc>
              <a:buFont typeface="Arial"/>
              <a:buChar char="•"/>
            </a:pPr>
            <a:r>
              <a:rPr lang="en-US" sz="22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Demand Forecast &amp; Heatmap</a:t>
            </a:r>
          </a:p>
          <a:p>
            <a:pPr algn="l" marL="530860" indent="-265430" lvl="1">
              <a:lnSpc>
                <a:spcPts val="3511"/>
              </a:lnSpc>
              <a:buFont typeface="Arial"/>
              <a:buChar char="•"/>
            </a:pPr>
            <a:r>
              <a:rPr lang="en-US" sz="22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Revenue Recovery Tracking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499406" y="3482130"/>
            <a:ext cx="5674366" cy="4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484237"/>
                </a:solidFill>
                <a:latin typeface="Arimo"/>
                <a:ea typeface="Arimo"/>
                <a:cs typeface="Arimo"/>
                <a:sym typeface="Arimo"/>
              </a:rPr>
              <a:t>Expected Business Benefits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499406" y="4272563"/>
            <a:ext cx="3761184" cy="2200723"/>
            <a:chOff x="0" y="0"/>
            <a:chExt cx="5014912" cy="293429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014976" cy="2934335"/>
            </a:xfrm>
            <a:custGeom>
              <a:avLst/>
              <a:gdLst/>
              <a:ahLst/>
              <a:cxnLst/>
              <a:rect r="r" b="b" t="t" l="l"/>
              <a:pathLst>
                <a:path h="2934335" w="5014976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4958207" y="0"/>
                  </a:lnTo>
                  <a:cubicBezTo>
                    <a:pt x="4989576" y="0"/>
                    <a:pt x="5014976" y="25400"/>
                    <a:pt x="5014976" y="56769"/>
                  </a:cubicBezTo>
                  <a:lnTo>
                    <a:pt x="5014976" y="2877566"/>
                  </a:lnTo>
                  <a:cubicBezTo>
                    <a:pt x="5014976" y="2908935"/>
                    <a:pt x="4989576" y="2934335"/>
                    <a:pt x="4958207" y="2934335"/>
                  </a:cubicBezTo>
                  <a:lnTo>
                    <a:pt x="56769" y="2934335"/>
                  </a:lnTo>
                  <a:cubicBezTo>
                    <a:pt x="25400" y="2934335"/>
                    <a:pt x="0" y="2908935"/>
                    <a:pt x="0" y="2877566"/>
                  </a:cubicBezTo>
                  <a:close/>
                </a:path>
              </a:pathLst>
            </a:custGeom>
            <a:solidFill>
              <a:srgbClr val="EEE8DD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9782918" y="4527499"/>
            <a:ext cx="3194152" cy="4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40% Reduction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782918" y="5177733"/>
            <a:ext cx="3194152" cy="5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In expiry-related losses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3544102" y="4272563"/>
            <a:ext cx="3761184" cy="2200723"/>
            <a:chOff x="0" y="0"/>
            <a:chExt cx="5014912" cy="293429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014976" cy="2934335"/>
            </a:xfrm>
            <a:custGeom>
              <a:avLst/>
              <a:gdLst/>
              <a:ahLst/>
              <a:cxnLst/>
              <a:rect r="r" b="b" t="t" l="l"/>
              <a:pathLst>
                <a:path h="2934335" w="5014976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4958207" y="0"/>
                  </a:lnTo>
                  <a:cubicBezTo>
                    <a:pt x="4989576" y="0"/>
                    <a:pt x="5014976" y="25400"/>
                    <a:pt x="5014976" y="56769"/>
                  </a:cubicBezTo>
                  <a:lnTo>
                    <a:pt x="5014976" y="2877566"/>
                  </a:lnTo>
                  <a:cubicBezTo>
                    <a:pt x="5014976" y="2908935"/>
                    <a:pt x="4989576" y="2934335"/>
                    <a:pt x="4958207" y="2934335"/>
                  </a:cubicBezTo>
                  <a:lnTo>
                    <a:pt x="56769" y="2934335"/>
                  </a:lnTo>
                  <a:cubicBezTo>
                    <a:pt x="25400" y="2934335"/>
                    <a:pt x="0" y="2908935"/>
                    <a:pt x="0" y="2877566"/>
                  </a:cubicBezTo>
                  <a:close/>
                </a:path>
              </a:pathLst>
            </a:custGeom>
            <a:solidFill>
              <a:srgbClr val="EEE8DD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3827623" y="4527499"/>
            <a:ext cx="3194152" cy="4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Higher Turnover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827623" y="5177733"/>
            <a:ext cx="3194152" cy="101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Improved inventory utilization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499406" y="6756797"/>
            <a:ext cx="7805890" cy="1747095"/>
            <a:chOff x="0" y="0"/>
            <a:chExt cx="10407853" cy="232945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407777" cy="2329434"/>
            </a:xfrm>
            <a:custGeom>
              <a:avLst/>
              <a:gdLst/>
              <a:ahLst/>
              <a:cxnLst/>
              <a:rect r="r" b="b" t="t" l="l"/>
              <a:pathLst>
                <a:path h="2329434" w="10407777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10351135" y="0"/>
                  </a:lnTo>
                  <a:cubicBezTo>
                    <a:pt x="10382503" y="0"/>
                    <a:pt x="10407777" y="25400"/>
                    <a:pt x="10407777" y="56642"/>
                  </a:cubicBezTo>
                  <a:lnTo>
                    <a:pt x="10407777" y="2272792"/>
                  </a:lnTo>
                  <a:cubicBezTo>
                    <a:pt x="10407777" y="2304161"/>
                    <a:pt x="10382377" y="2329434"/>
                    <a:pt x="10351135" y="2329434"/>
                  </a:cubicBezTo>
                  <a:lnTo>
                    <a:pt x="56642" y="2329434"/>
                  </a:lnTo>
                  <a:cubicBezTo>
                    <a:pt x="25273" y="2329434"/>
                    <a:pt x="0" y="2304034"/>
                    <a:pt x="0" y="2272792"/>
                  </a:cubicBezTo>
                  <a:close/>
                </a:path>
              </a:pathLst>
            </a:custGeom>
            <a:solidFill>
              <a:srgbClr val="EEE8DD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9782918" y="7011743"/>
            <a:ext cx="3544043" cy="471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Less Waste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782918" y="7661967"/>
            <a:ext cx="7238848" cy="5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Reduced food waste &amp; better planning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DCFB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9F6F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92238" y="876595"/>
            <a:ext cx="2648245" cy="405260"/>
            <a:chOff x="0" y="0"/>
            <a:chExt cx="3530994" cy="54034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530981" cy="540258"/>
            </a:xfrm>
            <a:custGeom>
              <a:avLst/>
              <a:gdLst/>
              <a:ahLst/>
              <a:cxnLst/>
              <a:rect r="r" b="b" t="t" l="l"/>
              <a:pathLst>
                <a:path h="540258" w="3530981">
                  <a:moveTo>
                    <a:pt x="0" y="36830"/>
                  </a:moveTo>
                  <a:cubicBezTo>
                    <a:pt x="0" y="16510"/>
                    <a:pt x="16510" y="0"/>
                    <a:pt x="36830" y="0"/>
                  </a:cubicBezTo>
                  <a:lnTo>
                    <a:pt x="3494151" y="0"/>
                  </a:lnTo>
                  <a:cubicBezTo>
                    <a:pt x="3514471" y="0"/>
                    <a:pt x="3530981" y="16510"/>
                    <a:pt x="3530981" y="36830"/>
                  </a:cubicBezTo>
                  <a:lnTo>
                    <a:pt x="3530981" y="503428"/>
                  </a:lnTo>
                  <a:cubicBezTo>
                    <a:pt x="3530981" y="523748"/>
                    <a:pt x="3514471" y="540258"/>
                    <a:pt x="3494151" y="540258"/>
                  </a:cubicBezTo>
                  <a:lnTo>
                    <a:pt x="36830" y="540258"/>
                  </a:lnTo>
                  <a:cubicBezTo>
                    <a:pt x="16510" y="540258"/>
                    <a:pt x="0" y="523748"/>
                    <a:pt x="0" y="503428"/>
                  </a:cubicBezTo>
                  <a:close/>
                </a:path>
              </a:pathLst>
            </a:custGeom>
            <a:solidFill>
              <a:srgbClr val="ECE6DF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130351" y="888502"/>
            <a:ext cx="3286420" cy="324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2"/>
              </a:lnSpc>
            </a:pPr>
            <a:r>
              <a:rPr lang="en-US" sz="1399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ROADMAP &amp; CONCLUSION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1309097"/>
            <a:ext cx="7217569" cy="767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16"/>
              </a:lnSpc>
            </a:pPr>
            <a:r>
              <a:rPr lang="en-US" sz="4500">
                <a:solidFill>
                  <a:srgbClr val="484237"/>
                </a:solidFill>
                <a:latin typeface="Arimo"/>
                <a:ea typeface="Arimo"/>
                <a:cs typeface="Arimo"/>
                <a:sym typeface="Arimo"/>
              </a:rPr>
              <a:t>Future Scope &amp; Vision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238" y="2515791"/>
            <a:ext cx="4064346" cy="388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>
                <a:solidFill>
                  <a:srgbClr val="484237"/>
                </a:solidFill>
                <a:latin typeface="Arimo"/>
                <a:ea typeface="Arimo"/>
                <a:cs typeface="Arimo"/>
                <a:sym typeface="Arimo"/>
              </a:rPr>
              <a:t>Future Enhancements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92238" y="3114675"/>
            <a:ext cx="460619" cy="287836"/>
            <a:chOff x="0" y="0"/>
            <a:chExt cx="614159" cy="38378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14165" cy="383779"/>
            </a:xfrm>
            <a:custGeom>
              <a:avLst/>
              <a:gdLst/>
              <a:ahLst/>
              <a:cxnLst/>
              <a:rect r="r" b="b" t="t" l="l"/>
              <a:pathLst>
                <a:path h="383779" w="614165">
                  <a:moveTo>
                    <a:pt x="0" y="0"/>
                  </a:moveTo>
                  <a:lnTo>
                    <a:pt x="614165" y="0"/>
                  </a:lnTo>
                  <a:lnTo>
                    <a:pt x="614165" y="383779"/>
                  </a:lnTo>
                  <a:lnTo>
                    <a:pt x="0" y="38377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75" t="0" r="-30174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614159" cy="4028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746558"/>
                  </a:solidFill>
                  <a:latin typeface="Arimo"/>
                  <a:ea typeface="Arimo"/>
                  <a:cs typeface="Arimo"/>
                  <a:sym typeface="Arimo"/>
                </a:rPr>
                <a:t>01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92238" y="3477368"/>
            <a:ext cx="7870774" cy="28575"/>
            <a:chOff x="0" y="0"/>
            <a:chExt cx="10494366" cy="381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494391" cy="38100"/>
            </a:xfrm>
            <a:custGeom>
              <a:avLst/>
              <a:gdLst/>
              <a:ahLst/>
              <a:cxnLst/>
              <a:rect r="r" b="b" t="t" l="l"/>
              <a:pathLst>
                <a:path h="38100" w="10494391">
                  <a:moveTo>
                    <a:pt x="0" y="0"/>
                  </a:moveTo>
                  <a:lnTo>
                    <a:pt x="10494391" y="0"/>
                  </a:lnTo>
                  <a:lnTo>
                    <a:pt x="10494391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D3C5B6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992238" y="3620986"/>
            <a:ext cx="3919690" cy="388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IoT Smart Shelf Monitoring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92238" y="4369146"/>
            <a:ext cx="460619" cy="287836"/>
            <a:chOff x="0" y="0"/>
            <a:chExt cx="614159" cy="38378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14165" cy="383779"/>
            </a:xfrm>
            <a:custGeom>
              <a:avLst/>
              <a:gdLst/>
              <a:ahLst/>
              <a:cxnLst/>
              <a:rect r="r" b="b" t="t" l="l"/>
              <a:pathLst>
                <a:path h="383779" w="614165">
                  <a:moveTo>
                    <a:pt x="0" y="0"/>
                  </a:moveTo>
                  <a:lnTo>
                    <a:pt x="614165" y="0"/>
                  </a:lnTo>
                  <a:lnTo>
                    <a:pt x="614165" y="383779"/>
                  </a:lnTo>
                  <a:lnTo>
                    <a:pt x="0" y="38377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75" t="0" r="-30174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614159" cy="4028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746558"/>
                  </a:solidFill>
                  <a:latin typeface="Arimo"/>
                  <a:ea typeface="Arimo"/>
                  <a:cs typeface="Arimo"/>
                  <a:sym typeface="Arimo"/>
                </a:rPr>
                <a:t>02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92238" y="4731839"/>
            <a:ext cx="7870774" cy="28575"/>
            <a:chOff x="0" y="0"/>
            <a:chExt cx="10494366" cy="381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494391" cy="38100"/>
            </a:xfrm>
            <a:custGeom>
              <a:avLst/>
              <a:gdLst/>
              <a:ahLst/>
              <a:cxnLst/>
              <a:rect r="r" b="b" t="t" l="l"/>
              <a:pathLst>
                <a:path h="38100" w="10494391">
                  <a:moveTo>
                    <a:pt x="0" y="0"/>
                  </a:moveTo>
                  <a:lnTo>
                    <a:pt x="10494391" y="0"/>
                  </a:lnTo>
                  <a:lnTo>
                    <a:pt x="10494391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D3C5B6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992238" y="4875457"/>
            <a:ext cx="3363220" cy="388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WhatsApp Alert System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92238" y="5623617"/>
            <a:ext cx="460619" cy="287836"/>
            <a:chOff x="0" y="0"/>
            <a:chExt cx="614159" cy="38378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14165" cy="383779"/>
            </a:xfrm>
            <a:custGeom>
              <a:avLst/>
              <a:gdLst/>
              <a:ahLst/>
              <a:cxnLst/>
              <a:rect r="r" b="b" t="t" l="l"/>
              <a:pathLst>
                <a:path h="383779" w="614165">
                  <a:moveTo>
                    <a:pt x="0" y="0"/>
                  </a:moveTo>
                  <a:lnTo>
                    <a:pt x="614165" y="0"/>
                  </a:lnTo>
                  <a:lnTo>
                    <a:pt x="614165" y="383779"/>
                  </a:lnTo>
                  <a:lnTo>
                    <a:pt x="0" y="38377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75" t="0" r="-30174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614159" cy="4028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746558"/>
                  </a:solidFill>
                  <a:latin typeface="Arimo"/>
                  <a:ea typeface="Arimo"/>
                  <a:cs typeface="Arimo"/>
                  <a:sym typeface="Arimo"/>
                </a:rPr>
                <a:t>03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92238" y="5986310"/>
            <a:ext cx="7870774" cy="28575"/>
            <a:chOff x="0" y="0"/>
            <a:chExt cx="10494366" cy="381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494391" cy="38100"/>
            </a:xfrm>
            <a:custGeom>
              <a:avLst/>
              <a:gdLst/>
              <a:ahLst/>
              <a:cxnLst/>
              <a:rect r="r" b="b" t="t" l="l"/>
              <a:pathLst>
                <a:path h="38100" w="10494391">
                  <a:moveTo>
                    <a:pt x="0" y="0"/>
                  </a:moveTo>
                  <a:lnTo>
                    <a:pt x="10494391" y="0"/>
                  </a:lnTo>
                  <a:lnTo>
                    <a:pt x="10494391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D3C5B6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992238" y="6129938"/>
            <a:ext cx="3610718" cy="388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GenAI Business Assistant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992238" y="6878088"/>
            <a:ext cx="460619" cy="287836"/>
            <a:chOff x="0" y="0"/>
            <a:chExt cx="614159" cy="38378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14165" cy="383779"/>
            </a:xfrm>
            <a:custGeom>
              <a:avLst/>
              <a:gdLst/>
              <a:ahLst/>
              <a:cxnLst/>
              <a:rect r="r" b="b" t="t" l="l"/>
              <a:pathLst>
                <a:path h="383779" w="614165">
                  <a:moveTo>
                    <a:pt x="0" y="0"/>
                  </a:moveTo>
                  <a:lnTo>
                    <a:pt x="614165" y="0"/>
                  </a:lnTo>
                  <a:lnTo>
                    <a:pt x="614165" y="383779"/>
                  </a:lnTo>
                  <a:lnTo>
                    <a:pt x="0" y="38377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75" t="0" r="-30174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9050"/>
              <a:ext cx="614159" cy="4028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746558"/>
                  </a:solidFill>
                  <a:latin typeface="Arimo"/>
                  <a:ea typeface="Arimo"/>
                  <a:cs typeface="Arimo"/>
                  <a:sym typeface="Arimo"/>
                </a:rPr>
                <a:t>04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92238" y="7240791"/>
            <a:ext cx="7870774" cy="28575"/>
            <a:chOff x="0" y="0"/>
            <a:chExt cx="10494366" cy="381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494391" cy="38100"/>
            </a:xfrm>
            <a:custGeom>
              <a:avLst/>
              <a:gdLst/>
              <a:ahLst/>
              <a:cxnLst/>
              <a:rect r="r" b="b" t="t" l="l"/>
              <a:pathLst>
                <a:path h="38100" w="10494391">
                  <a:moveTo>
                    <a:pt x="0" y="0"/>
                  </a:moveTo>
                  <a:lnTo>
                    <a:pt x="10494391" y="0"/>
                  </a:lnTo>
                  <a:lnTo>
                    <a:pt x="10494391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D3C5B6"/>
            </a:solid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992238" y="7384409"/>
            <a:ext cx="4640018" cy="388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Mobile App &amp; Cloud Deployment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992238" y="8132559"/>
            <a:ext cx="460619" cy="287836"/>
            <a:chOff x="0" y="0"/>
            <a:chExt cx="614159" cy="38378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14165" cy="383779"/>
            </a:xfrm>
            <a:custGeom>
              <a:avLst/>
              <a:gdLst/>
              <a:ahLst/>
              <a:cxnLst/>
              <a:rect r="r" b="b" t="t" l="l"/>
              <a:pathLst>
                <a:path h="383779" w="614165">
                  <a:moveTo>
                    <a:pt x="0" y="0"/>
                  </a:moveTo>
                  <a:lnTo>
                    <a:pt x="614165" y="0"/>
                  </a:lnTo>
                  <a:lnTo>
                    <a:pt x="614165" y="383779"/>
                  </a:lnTo>
                  <a:lnTo>
                    <a:pt x="0" y="38377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75" t="0" r="-30174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19050"/>
              <a:ext cx="614159" cy="4028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746558"/>
                  </a:solidFill>
                  <a:latin typeface="Arimo"/>
                  <a:ea typeface="Arimo"/>
                  <a:cs typeface="Arimo"/>
                  <a:sym typeface="Arimo"/>
                </a:rPr>
                <a:t>05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92238" y="8495262"/>
            <a:ext cx="7870774" cy="28575"/>
            <a:chOff x="0" y="0"/>
            <a:chExt cx="10494366" cy="381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494391" cy="38100"/>
            </a:xfrm>
            <a:custGeom>
              <a:avLst/>
              <a:gdLst/>
              <a:ahLst/>
              <a:cxnLst/>
              <a:rect r="r" b="b" t="t" l="l"/>
              <a:pathLst>
                <a:path h="38100" w="10494391">
                  <a:moveTo>
                    <a:pt x="0" y="0"/>
                  </a:moveTo>
                  <a:lnTo>
                    <a:pt x="10494391" y="0"/>
                  </a:lnTo>
                  <a:lnTo>
                    <a:pt x="10494391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D3C5B6"/>
            </a:solidFill>
          </p:spPr>
        </p:sp>
      </p:grpSp>
      <p:sp>
        <p:nvSpPr>
          <p:cNvPr name="TextBox 40" id="40"/>
          <p:cNvSpPr txBox="true"/>
          <p:nvPr/>
        </p:nvSpPr>
        <p:spPr>
          <a:xfrm rot="0">
            <a:off x="992238" y="8638880"/>
            <a:ext cx="4870694" cy="388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>
                <a:solidFill>
                  <a:srgbClr val="746558"/>
                </a:solidFill>
                <a:latin typeface="Arimo"/>
                <a:ea typeface="Arimo"/>
                <a:cs typeface="Arimo"/>
                <a:sym typeface="Arimo"/>
              </a:rPr>
              <a:t>Blockchain Supply Chain Tracking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9268568" y="2357285"/>
            <a:ext cx="8202663" cy="7053110"/>
            <a:chOff x="0" y="0"/>
            <a:chExt cx="10936884" cy="9404147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936859" cy="9404223"/>
            </a:xfrm>
            <a:custGeom>
              <a:avLst/>
              <a:gdLst/>
              <a:ahLst/>
              <a:cxnLst/>
              <a:rect r="r" b="b" t="t" l="l"/>
              <a:pathLst>
                <a:path h="9404223" w="10936859">
                  <a:moveTo>
                    <a:pt x="0" y="46101"/>
                  </a:moveTo>
                  <a:cubicBezTo>
                    <a:pt x="0" y="20574"/>
                    <a:pt x="20574" y="0"/>
                    <a:pt x="46101" y="0"/>
                  </a:cubicBezTo>
                  <a:lnTo>
                    <a:pt x="10890758" y="0"/>
                  </a:lnTo>
                  <a:cubicBezTo>
                    <a:pt x="10916158" y="0"/>
                    <a:pt x="10936859" y="20574"/>
                    <a:pt x="10936859" y="46101"/>
                  </a:cubicBezTo>
                  <a:lnTo>
                    <a:pt x="10936859" y="9358122"/>
                  </a:lnTo>
                  <a:cubicBezTo>
                    <a:pt x="10936859" y="9383522"/>
                    <a:pt x="10916285" y="9404223"/>
                    <a:pt x="10890758" y="9404223"/>
                  </a:cubicBezTo>
                  <a:lnTo>
                    <a:pt x="46101" y="9404223"/>
                  </a:lnTo>
                  <a:cubicBezTo>
                    <a:pt x="20701" y="9404223"/>
                    <a:pt x="0" y="9383649"/>
                    <a:pt x="0" y="9358122"/>
                  </a:cubicBezTo>
                  <a:close/>
                </a:path>
              </a:pathLst>
            </a:custGeom>
            <a:solidFill>
              <a:srgbClr val="F9F6F0"/>
            </a:solidFill>
          </p:spPr>
        </p:sp>
      </p:grpSp>
      <p:sp>
        <p:nvSpPr>
          <p:cNvPr name="TextBox 43" id="43"/>
          <p:cNvSpPr txBox="true"/>
          <p:nvPr/>
        </p:nvSpPr>
        <p:spPr>
          <a:xfrm rot="0">
            <a:off x="9498806" y="2515791"/>
            <a:ext cx="2814116" cy="449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4"/>
              </a:lnSpc>
            </a:pPr>
            <a:r>
              <a:rPr lang="en-US" sz="2799">
                <a:solidFill>
                  <a:srgbClr val="484237"/>
                </a:solidFill>
                <a:latin typeface="Arimo"/>
                <a:ea typeface="Arimo"/>
                <a:cs typeface="Arimo"/>
                <a:sym typeface="Arimo"/>
              </a:rPr>
              <a:t>Conclusion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9527381" y="3081490"/>
            <a:ext cx="7742187" cy="1078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19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Smart Inventory AI transforms traditional inventory management into an intelligent decision-making platform — predicting risks, minimizing expiry, recovering revenue, and enhancing profitability.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9498806" y="4303662"/>
            <a:ext cx="28575" cy="670474"/>
            <a:chOff x="0" y="0"/>
            <a:chExt cx="38100" cy="893966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8100" cy="893953"/>
            </a:xfrm>
            <a:custGeom>
              <a:avLst/>
              <a:gdLst/>
              <a:ahLst/>
              <a:cxnLst/>
              <a:rect r="r" b="b" t="t" l="l"/>
              <a:pathLst>
                <a:path h="893953" w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874903"/>
                  </a:lnTo>
                  <a:cubicBezTo>
                    <a:pt x="38100" y="885444"/>
                    <a:pt x="29591" y="893953"/>
                    <a:pt x="19050" y="893953"/>
                  </a:cubicBezTo>
                  <a:cubicBezTo>
                    <a:pt x="8509" y="893953"/>
                    <a:pt x="0" y="885444"/>
                    <a:pt x="0" y="874903"/>
                  </a:cubicBezTo>
                  <a:close/>
                </a:path>
              </a:pathLst>
            </a:custGeom>
            <a:solidFill>
              <a:srgbClr val="D3C5B6"/>
            </a:solidFill>
          </p:spPr>
        </p:sp>
      </p:grpSp>
      <p:sp>
        <p:nvSpPr>
          <p:cNvPr name="TextBox 47" id="47"/>
          <p:cNvSpPr txBox="true"/>
          <p:nvPr/>
        </p:nvSpPr>
        <p:spPr>
          <a:xfrm rot="0">
            <a:off x="10499034" y="5844778"/>
            <a:ext cx="8311163" cy="400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3"/>
              </a:lnSpc>
            </a:pPr>
            <a:r>
              <a:rPr lang="en-US" sz="180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"Predict Early. Recover Revenue. Maximize Profit."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2456279" y="4590307"/>
            <a:ext cx="1300222" cy="332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3"/>
              </a:lnSpc>
            </a:pPr>
            <a:r>
              <a:rPr lang="en-US" sz="180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Thank You!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1257836" y="6945806"/>
            <a:ext cx="4495817" cy="453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9"/>
              </a:lnSpc>
            </a:pPr>
            <a:r>
              <a:rPr lang="en-US" sz="2499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Questions and Answers???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DAHN13aaAuU</dc:identifier>
  <dcterms:modified xsi:type="dcterms:W3CDTF">2011-08-01T06:04:30Z</dcterms:modified>
  <cp:revision>1</cp:revision>
  <dc:title>Revenue-Recovery-and-Inventory-Intelligence.pptx</dc:title>
</cp:coreProperties>
</file>